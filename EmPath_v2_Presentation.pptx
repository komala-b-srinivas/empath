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28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2188952" cy="1920240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72591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  <a:latin typeface="Calibri"/>
              </a:rPr>
              <a:t>EmPath v2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7259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Automated Multimodal Pain Intensity Detection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154680"/>
            <a:ext cx="107259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Calibri"/>
              </a:rPr>
              <a:t>Using Physiological Biosignals &amp; Facial Landmark Geometry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72591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AACCDD"/>
                </a:solidFill>
                <a:latin typeface="Calibri"/>
              </a:rPr>
              <a:t>Komala Belur Srinivas   |   M.S. Computer Science   |   Hofstra 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166360"/>
            <a:ext cx="107259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8AABB"/>
                </a:solidFill>
                <a:latin typeface="Calibri"/>
              </a:rPr>
              <a:t>BioVid Heat Pain Database  •  LOSO-67 Reactive Subjects  •  PA2 vs PA3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74320" y="6611112"/>
            <a:ext cx="7315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BCC"/>
                </a:solidFill>
                <a:latin typeface="Calibri"/>
              </a:rPr>
              <a:t>EmPath v2  |  Komala Belur Srinivas  |  Hofstra University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1672" y="6611112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1 / 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5743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The Clinical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04672"/>
            <a:ext cx="114574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AACCDD"/>
                </a:solidFill>
                <a:latin typeface="Calibri"/>
              </a:rPr>
              <a:t>Who speaks for patients who cannot speak for themselves?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34440"/>
            <a:ext cx="12188952" cy="54864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1399032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Calibri"/>
              </a:rPr>
              <a:t>Pain is subjective. Standard tools require a verbal response — but millions of patients cannot provide one.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947672"/>
            <a:ext cx="2651760" cy="1417320"/>
          </a:xfrm>
          <a:prstGeom prst="rect">
            <a:avLst/>
          </a:prstGeom>
          <a:solidFill>
            <a:srgbClr val="FFFFFF"/>
          </a:solidFill>
          <a:ln w="19050">
            <a:solidFill>
              <a:srgbClr val="0087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20040" y="1947672"/>
            <a:ext cx="2651760" cy="384048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11480" y="1975104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🏥  ICU Patients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368296"/>
            <a:ext cx="2514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Under sedation or mechanical
ventilation — cannot speak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36392" y="1947672"/>
            <a:ext cx="2651760" cy="1417320"/>
          </a:xfrm>
          <a:prstGeom prst="rect">
            <a:avLst/>
          </a:prstGeom>
          <a:solidFill>
            <a:srgbClr val="FFFFFF"/>
          </a:solidFill>
          <a:ln w="19050">
            <a:solidFill>
              <a:srgbClr val="0087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136392" y="1947672"/>
            <a:ext cx="2651760" cy="384048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227832" y="1975104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🧠  Dementia Patients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27832" y="2368296"/>
            <a:ext cx="2514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Lost verbal communication
due to cognitive decline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52744" y="1947672"/>
            <a:ext cx="2651760" cy="1417320"/>
          </a:xfrm>
          <a:prstGeom prst="rect">
            <a:avLst/>
          </a:prstGeom>
          <a:solidFill>
            <a:srgbClr val="FFFFFF"/>
          </a:solidFill>
          <a:ln w="19050">
            <a:solidFill>
              <a:srgbClr val="0087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952744" y="1947672"/>
            <a:ext cx="2651760" cy="384048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044184" y="1975104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👶  Neonates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44184" y="2368296"/>
            <a:ext cx="2514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Cannot self-report pain
at any developmental stage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769096" y="1947672"/>
            <a:ext cx="2651760" cy="1417320"/>
          </a:xfrm>
          <a:prstGeom prst="rect">
            <a:avLst/>
          </a:prstGeom>
          <a:solidFill>
            <a:srgbClr val="FFFFFF"/>
          </a:solidFill>
          <a:ln w="19050">
            <a:solidFill>
              <a:srgbClr val="0087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769096" y="1947672"/>
            <a:ext cx="2651760" cy="384048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860536" y="1975104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🔬  Post-Surgical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0536" y="2368296"/>
            <a:ext cx="2514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Unconscious or heavily
medicated after procedures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3593592"/>
            <a:ext cx="11548872" cy="1170432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02920" y="3666744"/>
            <a:ext cx="11183112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Current tools (FACS, CPOT, BPS) require trained nurses making manual, inconsistent bedside observations.
Goal: A model that reads biosignals + facial expressions to classify pain intensity automatically — without the patient saying a word.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4855464"/>
            <a:ext cx="73152" cy="292608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7200" y="4855464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878A"/>
                </a:solidFill>
                <a:latin typeface="Calibri"/>
              </a:rPr>
              <a:t>CLINICAL MOTIVATION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5175504"/>
            <a:ext cx="1136599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0"/>
              </a:spcAft>
            </a:pPr>
            <a:r>
              <a:rPr sz="1400">
                <a:solidFill>
                  <a:srgbClr val="1A1A1A"/>
                </a:solidFill>
                <a:latin typeface="Calibri"/>
              </a:rPr>
              <a:t>▸ HIPAA-compliant, non-invasive, real-time capable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400">
                <a:solidFill>
                  <a:srgbClr val="1A1A1A"/>
                </a:solidFill>
                <a:latin typeface="Calibri"/>
              </a:rPr>
              <a:t>▸ Deployable at ICU bedside with existing monitoring hardware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400">
                <a:solidFill>
                  <a:srgbClr val="1A1A1A"/>
                </a:solidFill>
                <a:latin typeface="Calibri"/>
              </a:rPr>
              <a:t>▸ Explainable via SHAP — clinicians can see WHY each prediction was made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74320" y="6611112"/>
            <a:ext cx="7315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BCC"/>
                </a:solidFill>
                <a:latin typeface="Calibri"/>
              </a:rPr>
              <a:t>EmPath v2  |  Komala Belur Srinivas  |  Hofstra University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91672" y="6611112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2 / 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5743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The Dataset — BioVid Heat Pain Database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04672"/>
            <a:ext cx="114574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AACCDD"/>
                </a:solidFill>
                <a:latin typeface="Calibri"/>
              </a:rPr>
              <a:t>Controlled laboratory pain induction with synchronized biosignals and video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34440"/>
            <a:ext cx="12188952" cy="54864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0040" y="1472184"/>
            <a:ext cx="5303520" cy="484632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609344"/>
            <a:ext cx="73152" cy="292608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1609344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878A"/>
                </a:solidFill>
                <a:latin typeface="Calibri"/>
              </a:rPr>
              <a:t>DATASET OVERVIEW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947672"/>
            <a:ext cx="50292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0"/>
              </a:spcAft>
            </a:pPr>
            <a:r>
              <a:rPr sz="1400">
                <a:solidFill>
                  <a:srgbClr val="1A1A1A"/>
                </a:solidFill>
                <a:latin typeface="Calibri"/>
              </a:rPr>
              <a:t>▸ 87 subjects, heat applied to forearm at controlled temperatures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400">
                <a:solidFill>
                  <a:srgbClr val="1A1A1A"/>
                </a:solidFill>
                <a:latin typeface="Calibri"/>
              </a:rPr>
              <a:t>▸ 3 biosignal channels: GSR, ECG, EMG (trapezius + zygomatic)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400">
                <a:solidFill>
                  <a:srgbClr val="1A1A1A"/>
                </a:solidFill>
                <a:latin typeface="Calibri"/>
              </a:rPr>
              <a:t>▸ Video: frontal face camera at 25 fps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400">
                <a:solidFill>
                  <a:srgbClr val="1A1A1A"/>
                </a:solidFill>
                <a:latin typeface="Calibri"/>
              </a:rPr>
              <a:t>▸ Each sample: 5.5-second window → 24 video frames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400">
                <a:solidFill>
                  <a:srgbClr val="1A1A1A"/>
                </a:solidFill>
                <a:latin typeface="Calibri"/>
              </a:rPr>
              <a:t>▸ 20 non-reactive subjects excluded (flat biosignals)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400">
                <a:solidFill>
                  <a:srgbClr val="1A1A1A"/>
                </a:solidFill>
                <a:latin typeface="Calibri"/>
              </a:rPr>
              <a:t>▸ 67 reactive subjects used for all experiments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400">
                <a:solidFill>
                  <a:srgbClr val="1A1A1A"/>
                </a:solidFill>
                <a:latin typeface="Calibri"/>
              </a:rPr>
              <a:t>▸ ~2,680 total samples (PA2 + PA3 balanced)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169664"/>
            <a:ext cx="73152" cy="292608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360" y="4169664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878A"/>
                </a:solidFill>
                <a:latin typeface="Calibri"/>
              </a:rPr>
              <a:t>PAIN LEVELS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535424"/>
            <a:ext cx="1676400" cy="347472"/>
          </a:xfrm>
          <a:prstGeom prst="rect">
            <a:avLst/>
          </a:prstGeom>
          <a:solidFill>
            <a:srgbClr val="D6F0F0"/>
          </a:solidFill>
          <a:ln w="9525">
            <a:solidFill>
              <a:srgbClr val="0087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4572000"/>
            <a:ext cx="158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2B55"/>
                </a:solidFill>
                <a:latin typeface="Calibri"/>
              </a:rPr>
              <a:t>Class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33600" y="4535424"/>
            <a:ext cx="1676400" cy="347472"/>
          </a:xfrm>
          <a:prstGeom prst="rect">
            <a:avLst/>
          </a:prstGeom>
          <a:solidFill>
            <a:srgbClr val="D6F0F0"/>
          </a:solidFill>
          <a:ln w="9525">
            <a:solidFill>
              <a:srgbClr val="0087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179320" y="4572000"/>
            <a:ext cx="158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2B55"/>
                </a:solidFill>
                <a:latin typeface="Calibri"/>
              </a:rPr>
              <a:t>Temp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10000" y="4535424"/>
            <a:ext cx="1676400" cy="347472"/>
          </a:xfrm>
          <a:prstGeom prst="rect">
            <a:avLst/>
          </a:prstGeom>
          <a:solidFill>
            <a:srgbClr val="D6F0F0"/>
          </a:solidFill>
          <a:ln w="9525">
            <a:solidFill>
              <a:srgbClr val="0087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855720" y="4572000"/>
            <a:ext cx="158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2B55"/>
                </a:solidFill>
                <a:latin typeface="Calibri"/>
              </a:rPr>
              <a:t>Description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882896"/>
            <a:ext cx="16764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02920" y="4919472"/>
            <a:ext cx="158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Calibri"/>
              </a:rPr>
              <a:t>BL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133600" y="4882896"/>
            <a:ext cx="16764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179320" y="4919472"/>
            <a:ext cx="158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Calibri"/>
              </a:rPr>
              <a:t>32°C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810000" y="4882896"/>
            <a:ext cx="16764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855720" y="4919472"/>
            <a:ext cx="158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Calibri"/>
              </a:rPr>
              <a:t>Baseline — no pain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230368"/>
            <a:ext cx="1676400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02920" y="5266944"/>
            <a:ext cx="158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Calibri"/>
              </a:rPr>
              <a:t>PA1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133600" y="5230368"/>
            <a:ext cx="1676400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179320" y="5266944"/>
            <a:ext cx="158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Calibri"/>
              </a:rPr>
              <a:t>38°C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810000" y="5230368"/>
            <a:ext cx="1676400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855720" y="5266944"/>
            <a:ext cx="158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Calibri"/>
              </a:rPr>
              <a:t>Mild pain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5577840"/>
            <a:ext cx="1676400" cy="347472"/>
          </a:xfrm>
          <a:prstGeom prst="rect">
            <a:avLst/>
          </a:prstGeom>
          <a:solidFill>
            <a:srgbClr val="FFF3CD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02920" y="5614416"/>
            <a:ext cx="158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Calibri"/>
              </a:rPr>
              <a:t>PA2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133600" y="5577840"/>
            <a:ext cx="1676400" cy="347472"/>
          </a:xfrm>
          <a:prstGeom prst="rect">
            <a:avLst/>
          </a:prstGeom>
          <a:solidFill>
            <a:srgbClr val="FFF3CD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179320" y="5614416"/>
            <a:ext cx="158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Calibri"/>
              </a:rPr>
              <a:t>43°C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810000" y="5577840"/>
            <a:ext cx="1676400" cy="347472"/>
          </a:xfrm>
          <a:prstGeom prst="rect">
            <a:avLst/>
          </a:prstGeom>
          <a:solidFill>
            <a:srgbClr val="FFF3CD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855720" y="5614416"/>
            <a:ext cx="158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Calibri"/>
              </a:rPr>
              <a:t>Moderate pain ← used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5925312"/>
            <a:ext cx="1676400" cy="347472"/>
          </a:xfrm>
          <a:prstGeom prst="rect">
            <a:avLst/>
          </a:prstGeom>
          <a:solidFill>
            <a:srgbClr val="FFE0CC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02920" y="5961888"/>
            <a:ext cx="158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Calibri"/>
              </a:rPr>
              <a:t>PA3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133600" y="5925312"/>
            <a:ext cx="1676400" cy="347472"/>
          </a:xfrm>
          <a:prstGeom prst="rect">
            <a:avLst/>
          </a:prstGeom>
          <a:solidFill>
            <a:srgbClr val="FFE0CC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179320" y="5961888"/>
            <a:ext cx="158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Calibri"/>
              </a:rPr>
              <a:t>45°C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810000" y="5925312"/>
            <a:ext cx="1676400" cy="347472"/>
          </a:xfrm>
          <a:prstGeom prst="rect">
            <a:avLst/>
          </a:prstGeom>
          <a:solidFill>
            <a:srgbClr val="FFE0CC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855720" y="5961888"/>
            <a:ext cx="158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Calibri"/>
              </a:rPr>
              <a:t>Intense pain  ← used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6272784"/>
            <a:ext cx="1676400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02920" y="6309360"/>
            <a:ext cx="158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Calibri"/>
              </a:rPr>
              <a:t>PA4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133600" y="6272784"/>
            <a:ext cx="1676400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2179320" y="6309360"/>
            <a:ext cx="158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Calibri"/>
              </a:rPr>
              <a:t>48°C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810000" y="6272784"/>
            <a:ext cx="1676400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3855720" y="6309360"/>
            <a:ext cx="158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Calibri"/>
              </a:rPr>
              <a:t>Maximum pain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852160" y="1472184"/>
            <a:ext cx="5989320" cy="484632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5989320" y="1609344"/>
            <a:ext cx="73152" cy="292608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126480" y="1609344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878A"/>
                </a:solidFill>
                <a:latin typeface="Calibri"/>
              </a:rPr>
              <a:t>WHY PA2 vs PA3?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989320" y="1947672"/>
            <a:ext cx="5669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62828"/>
                </a:solidFill>
                <a:latin typeface="Calibri"/>
              </a:rPr>
              <a:t>Only ~1°C thermal separation.
The hardest adjacent pair in BioVid literature.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989320" y="2615184"/>
            <a:ext cx="5669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0"/>
              </a:spcAft>
            </a:pPr>
            <a:r>
              <a:rPr sz="1400">
                <a:solidFill>
                  <a:srgbClr val="1A1A1A"/>
                </a:solidFill>
                <a:latin typeface="Calibri"/>
              </a:rPr>
              <a:t>▸ PA1 vs PA4 would be trivial — large physiological difference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400">
                <a:solidFill>
                  <a:srgbClr val="1A1A1A"/>
                </a:solidFill>
                <a:latin typeface="Calibri"/>
              </a:rPr>
              <a:t>▸ PA2 vs PA3 is the clinically relevant boundary — distinguishing moderate from intense pain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400">
                <a:solidFill>
                  <a:srgbClr val="1A1A1A"/>
                </a:solidFill>
                <a:latin typeface="Calibri"/>
              </a:rPr>
              <a:t>▸ Published papers confirm this is the most challenging pair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400">
                <a:solidFill>
                  <a:srgbClr val="1A1A1A"/>
                </a:solidFill>
                <a:latin typeface="Calibri"/>
              </a:rPr>
              <a:t>▸ Models that work here generalize to real clinical ambiguity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989320" y="4535424"/>
            <a:ext cx="73152" cy="292608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126480" y="4535424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878A"/>
                </a:solidFill>
                <a:latin typeface="Calibri"/>
              </a:rPr>
              <a:t>BIOSIGNAL CHANNELS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989320" y="4901184"/>
            <a:ext cx="2880360" cy="347472"/>
          </a:xfrm>
          <a:prstGeom prst="rect">
            <a:avLst/>
          </a:prstGeom>
          <a:solidFill>
            <a:srgbClr val="D6F0F0"/>
          </a:solidFill>
          <a:ln w="9525">
            <a:solidFill>
              <a:srgbClr val="0087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035040" y="4937760"/>
            <a:ext cx="2788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2B55"/>
                </a:solidFill>
                <a:latin typeface="Calibri"/>
              </a:rPr>
              <a:t>Channel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869680" y="4901184"/>
            <a:ext cx="2880360" cy="347472"/>
          </a:xfrm>
          <a:prstGeom prst="rect">
            <a:avLst/>
          </a:prstGeom>
          <a:solidFill>
            <a:srgbClr val="D6F0F0"/>
          </a:solidFill>
          <a:ln w="9525">
            <a:solidFill>
              <a:srgbClr val="0087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8915400" y="4937760"/>
            <a:ext cx="2788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2B55"/>
                </a:solidFill>
                <a:latin typeface="Calibri"/>
              </a:rPr>
              <a:t>Measures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989320" y="5248656"/>
            <a:ext cx="28803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6035040" y="5285232"/>
            <a:ext cx="2788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GSR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869680" y="5248656"/>
            <a:ext cx="28803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8915400" y="5285232"/>
            <a:ext cx="2788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Skin conductance — sympathetic NS response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989320" y="5596128"/>
            <a:ext cx="2880360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6035040" y="5632704"/>
            <a:ext cx="2788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ECG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869680" y="5596128"/>
            <a:ext cx="2880360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8915400" y="5632704"/>
            <a:ext cx="2788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Cardiac activity — heart rate + rhythm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989320" y="5943600"/>
            <a:ext cx="28803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6035040" y="5980176"/>
            <a:ext cx="2788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EMG Trap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869680" y="5943600"/>
            <a:ext cx="28803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8915400" y="5980176"/>
            <a:ext cx="2788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Trapezius — shoulder/neck muscle tension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989320" y="6291072"/>
            <a:ext cx="2880360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6035040" y="6327648"/>
            <a:ext cx="2788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EMG Zyg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869680" y="6291072"/>
            <a:ext cx="2880360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8915400" y="6327648"/>
            <a:ext cx="2788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Zygomaticus — cheek smile/pain muscle</a:t>
            </a:r>
          </a:p>
        </p:txBody>
      </p:sp>
      <p:sp>
        <p:nvSpPr>
          <p:cNvPr id="76" name="Rectangle 75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274320" y="6611112"/>
            <a:ext cx="7315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BCC"/>
                </a:solidFill>
                <a:latin typeface="Calibri"/>
              </a:rPr>
              <a:t>EmPath v2  |  Komala Belur Srinivas  |  Hofstra University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1091672" y="6611112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3 / 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5743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Why This Is Hard &amp; Key Design Decisions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54864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20040" y="1472184"/>
            <a:ext cx="3657600" cy="1874519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517904"/>
            <a:ext cx="3429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~1°C Thermal Difference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39112"/>
            <a:ext cx="3429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PA2 and PA3 produce nearly identical physiological responses. The model must detect subtle escalation, not obvious pain vs no-pain.</a:t>
            </a:r>
          </a:p>
        </p:txBody>
      </p:sp>
      <p:sp>
        <p:nvSpPr>
          <p:cNvPr id="9" name="Rectangle 8"/>
          <p:cNvSpPr/>
          <p:nvPr/>
        </p:nvSpPr>
        <p:spPr>
          <a:xfrm>
            <a:off x="4178808" y="1472184"/>
            <a:ext cx="3657600" cy="1874519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315968" y="1517904"/>
            <a:ext cx="3429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Massive Inter-Subject Variability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15968" y="2039112"/>
            <a:ext cx="3429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Person A resting GSR = 10 µS. Person B = 2 µS. Absolute signal values cannot be compared across people — each person is their own baseline.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37576" y="1472184"/>
            <a:ext cx="3657600" cy="1874519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174736" y="1517904"/>
            <a:ext cx="3429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Tiny Dataset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74736" y="2039112"/>
            <a:ext cx="3429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67 subjects × 40 samples = ~2,680 total. A single ImageNet mini-batch has more data. Deep models simply overfit.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3575304"/>
            <a:ext cx="73152" cy="292608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" y="3575304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878A"/>
                </a:solidFill>
                <a:latin typeface="Calibri"/>
              </a:rPr>
              <a:t>DESIGN DECISION 1 — Exclude 20 Non-Reactive Subjects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3922776"/>
            <a:ext cx="11548872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87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2920" y="3986784"/>
            <a:ext cx="11183112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20 of 87 subjects show zero physiological response to heat stimulation — flat GSR, ECG, EMG across all pain levels. Including them means training on pure noise. Official BioVid evaluation guidelines recommend exclusion.
→  67 reactive subjects used for all experiments.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5020056"/>
            <a:ext cx="73152" cy="292608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7200" y="5020056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878A"/>
                </a:solidFill>
                <a:latin typeface="Calibri"/>
              </a:rPr>
              <a:t>DESIGN DECISION 2 — Leave-One-Subject-Out (LOSO) Cross-Validation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5367528"/>
            <a:ext cx="11548872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0087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02920" y="5431536"/>
            <a:ext cx="1118311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67 folds. Each fold: train on 66 subjects → test on 1 held-out subject never seen during training.
This tests true cross-subject generalization. Random 80/20 splits leak subject identity — the model memorizes individual physiology and inflates results by 5–10%.
LOSO is the gold standard for clinical pain detection benchmarks.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74320" y="6611112"/>
            <a:ext cx="7315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BCC"/>
                </a:solidFill>
                <a:latin typeface="Calibri"/>
              </a:rPr>
              <a:t>EmPath v2  |  Komala Belur Srinivas  |  Hofstra University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91672" y="6611112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4 / 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5743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Feature Extraction — 35 Biosignal + 22 Landmark Features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54864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20040" y="1426464"/>
            <a:ext cx="5577840" cy="49834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563624"/>
            <a:ext cx="73152" cy="292608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563624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878A"/>
                </a:solidFill>
                <a:latin typeface="Calibri"/>
              </a:rPr>
              <a:t>BIOSIGNAL FEATURES (35 total)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911096"/>
            <a:ext cx="2674620" cy="347472"/>
          </a:xfrm>
          <a:prstGeom prst="rect">
            <a:avLst/>
          </a:prstGeom>
          <a:solidFill>
            <a:srgbClr val="D6F0F0"/>
          </a:solidFill>
          <a:ln w="9525">
            <a:solidFill>
              <a:srgbClr val="0087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1947672"/>
            <a:ext cx="25831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2B55"/>
                </a:solidFill>
                <a:latin typeface="Calibri"/>
              </a:rPr>
              <a:t>Channel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31820" y="1911096"/>
            <a:ext cx="2674620" cy="347472"/>
          </a:xfrm>
          <a:prstGeom prst="rect">
            <a:avLst/>
          </a:prstGeom>
          <a:solidFill>
            <a:srgbClr val="D6F0F0"/>
          </a:solidFill>
          <a:ln w="9525">
            <a:solidFill>
              <a:srgbClr val="0087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177540" y="1947672"/>
            <a:ext cx="25831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2B55"/>
                </a:solidFill>
                <a:latin typeface="Calibri"/>
              </a:rPr>
              <a:t>Features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258568"/>
            <a:ext cx="26746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2295144"/>
            <a:ext cx="25831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GSR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131820" y="2258568"/>
            <a:ext cx="26746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200400" y="2212848"/>
            <a:ext cx="25831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dirty="0">
                <a:solidFill>
                  <a:srgbClr val="1A1A1A"/>
                </a:solidFill>
                <a:latin typeface="Calibri"/>
              </a:rPr>
              <a:t>mean, std, slope, max, min, range, entropy, </a:t>
            </a:r>
            <a:r>
              <a:rPr sz="1100" b="0" i="0" dirty="0" err="1">
                <a:solidFill>
                  <a:srgbClr val="1A1A1A"/>
                </a:solidFill>
                <a:latin typeface="Calibri"/>
              </a:rPr>
              <a:t>sim_corr</a:t>
            </a:r>
            <a:r>
              <a:rPr sz="1100" b="0" i="0" dirty="0">
                <a:solidFill>
                  <a:srgbClr val="1A1A1A"/>
                </a:solidFill>
                <a:latin typeface="Calibri"/>
              </a:rPr>
              <a:t>, </a:t>
            </a:r>
            <a:r>
              <a:rPr sz="1100" b="0" i="0" dirty="0" err="1">
                <a:solidFill>
                  <a:srgbClr val="1A1A1A"/>
                </a:solidFill>
                <a:latin typeface="Calibri"/>
              </a:rPr>
              <a:t>sim_mi</a:t>
            </a:r>
            <a:r>
              <a:rPr sz="1100" b="0" i="0" dirty="0">
                <a:solidFill>
                  <a:srgbClr val="1A1A1A"/>
                </a:solidFill>
                <a:latin typeface="Calibri"/>
              </a:rPr>
              <a:t>, </a:t>
            </a:r>
            <a:r>
              <a:rPr sz="1100" b="0" i="0" dirty="0" err="1">
                <a:solidFill>
                  <a:srgbClr val="1A1A1A"/>
                </a:solidFill>
                <a:latin typeface="Calibri"/>
              </a:rPr>
              <a:t>gsr×ecg</a:t>
            </a:r>
            <a:endParaRPr sz="1100" b="0" i="0" dirty="0">
              <a:solidFill>
                <a:srgbClr val="1A1A1A"/>
              </a:solidFill>
              <a:latin typeface="Calibri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457200" y="2606040"/>
            <a:ext cx="2674620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2920" y="2642616"/>
            <a:ext cx="25831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ECG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131820" y="2606040"/>
            <a:ext cx="2674620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177540" y="2567656"/>
            <a:ext cx="25831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mean, std, max, entropy, sim_corr, sim_mi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953512"/>
            <a:ext cx="26746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02920" y="2990088"/>
            <a:ext cx="25831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EMG Trap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131820" y="2953512"/>
            <a:ext cx="26746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177540" y="2990088"/>
            <a:ext cx="25831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mean, std, asymmetry (left vs right)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3300984"/>
            <a:ext cx="2674620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02920" y="3337560"/>
            <a:ext cx="25831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HRV (ECG)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131820" y="3300984"/>
            <a:ext cx="2674620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177540" y="3337560"/>
            <a:ext cx="25831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MeanNN, SDNN, RMSSD, pNN50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4340" y="3639312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 dirty="0">
                <a:solidFill>
                  <a:srgbClr val="00878A"/>
                </a:solidFill>
                <a:latin typeface="Calibri"/>
              </a:rPr>
              <a:t>Tool: neurokit2 (HRV) + </a:t>
            </a:r>
            <a:r>
              <a:rPr sz="1200" b="0" i="1" dirty="0" err="1">
                <a:solidFill>
                  <a:srgbClr val="00878A"/>
                </a:solidFill>
                <a:latin typeface="Calibri"/>
              </a:rPr>
              <a:t>numpy</a:t>
            </a:r>
            <a:r>
              <a:rPr sz="1200" b="0" i="1" dirty="0">
                <a:solidFill>
                  <a:srgbClr val="00878A"/>
                </a:solidFill>
                <a:latin typeface="Calibri"/>
              </a:rPr>
              <a:t> (all others)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3895344"/>
            <a:ext cx="73152" cy="292608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94360" y="3895344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878A"/>
                </a:solidFill>
                <a:latin typeface="Calibri"/>
              </a:rPr>
              <a:t>PERSON-SPECIFIC NORMALIZATION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4233672"/>
            <a:ext cx="5257800" cy="1371600"/>
          </a:xfrm>
          <a:prstGeom prst="rect">
            <a:avLst/>
          </a:prstGeom>
          <a:solidFill>
            <a:srgbClr val="D6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94360" y="4288536"/>
            <a:ext cx="5029200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2B55"/>
                </a:solidFill>
                <a:latin typeface="Calibri"/>
              </a:rPr>
              <a:t>Train subjects: normalize each person using their own mean + std
Test subject: normalize using test subject's own statistics
Person A GSR baseline=10 → PA3=14 (+40%)
Person B GSR baseline=2  → PA3=2.8 (+40%)   ← same relative change
Without normalization: model sees 14 vs 2.8 — completely different signals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5678424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Calibri"/>
              </a:rPr>
              <a:t>Impact: +3.6% accuracy (59.5% → 63.1%)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080760" y="1426464"/>
            <a:ext cx="5760720" cy="49834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217920" y="1563624"/>
            <a:ext cx="73152" cy="292608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355080" y="1563624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878A"/>
                </a:solidFill>
                <a:latin typeface="Calibri"/>
              </a:rPr>
              <a:t>LANDMARK FEATURES (22 total)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0" y="1911096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MediaPipe FaceMesh → 468 (x,y,z) landmarks per frame × 24 frames per sample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17920" y="2368296"/>
            <a:ext cx="2743200" cy="347472"/>
          </a:xfrm>
          <a:prstGeom prst="rect">
            <a:avLst/>
          </a:prstGeom>
          <a:solidFill>
            <a:srgbClr val="D6F0F0"/>
          </a:solidFill>
          <a:ln w="9525">
            <a:solidFill>
              <a:srgbClr val="0087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263640" y="2404872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2B55"/>
                </a:solidFill>
                <a:latin typeface="Calibri"/>
              </a:rPr>
              <a:t>Feature Group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961120" y="2368296"/>
            <a:ext cx="2743200" cy="347472"/>
          </a:xfrm>
          <a:prstGeom prst="rect">
            <a:avLst/>
          </a:prstGeom>
          <a:solidFill>
            <a:srgbClr val="D6F0F0"/>
          </a:solidFill>
          <a:ln w="9525">
            <a:solidFill>
              <a:srgbClr val="0087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006840" y="2404872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2B55"/>
                </a:solidFill>
                <a:latin typeface="Calibri"/>
              </a:rPr>
              <a:t>Features (mean + std)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17920" y="2715768"/>
            <a:ext cx="27432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263640" y="2752344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Eye Openness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961120" y="2715768"/>
            <a:ext cx="27432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9006840" y="2752344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left, right, avg eye opening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17920" y="3063240"/>
            <a:ext cx="2743200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263640" y="3099816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Brow Position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961120" y="3063240"/>
            <a:ext cx="2743200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9006840" y="3099816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left, right, avg brow-to-eye distance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217920" y="3410712"/>
            <a:ext cx="27432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263640" y="3447288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Brow Furrow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961120" y="3410712"/>
            <a:ext cx="27432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9006840" y="3447288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inter-brow distance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217920" y="3758184"/>
            <a:ext cx="2743200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263640" y="3794760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Mouth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961120" y="3758184"/>
            <a:ext cx="2743200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9006840" y="3794760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height, width, aspect ratio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217920" y="4105656"/>
            <a:ext cx="27432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6263640" y="4142232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Nose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961120" y="4105656"/>
            <a:ext cx="27432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9006840" y="4142232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nose width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17920" y="423367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878A"/>
                </a:solidFill>
                <a:latin typeface="Calibri"/>
              </a:rPr>
              <a:t>→ mean + std across 24 frames = 22 total features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217920" y="4626864"/>
            <a:ext cx="73152" cy="292608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6355080" y="4626864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878A"/>
                </a:solidFill>
                <a:latin typeface="Calibri"/>
              </a:rPr>
              <a:t>KEY INSIGHT FROM SHAP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217920" y="4965191"/>
            <a:ext cx="5486400" cy="109728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6355080" y="5038343"/>
            <a:ext cx="52120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All top landmark features are _std (variability), not _mean (position).
Pain expression is about facial dynamics — how much the mouth and brows
move across the 5.5s window — not where they sit statically.</a:t>
            </a:r>
          </a:p>
        </p:txBody>
      </p:sp>
      <p:sp>
        <p:nvSpPr>
          <p:cNvPr id="68" name="Rectangle 67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274320" y="6611112"/>
            <a:ext cx="7315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BCC"/>
                </a:solidFill>
                <a:latin typeface="Calibri"/>
              </a:rPr>
              <a:t>EmPath v2  |  Komala Belur Srinivas  |  Hofstra University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1091672" y="6611112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5 / 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5743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Baseline — EmPath Stacked Fusion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04672"/>
            <a:ext cx="114574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AACCDD"/>
                </a:solidFill>
                <a:latin typeface="Calibri"/>
              </a:rPr>
              <a:t>RF(biosignal) + RF(landmark) → LogisticRegression meta-learner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34440"/>
            <a:ext cx="12188952" cy="54864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655064"/>
            <a:ext cx="3291840" cy="594360"/>
          </a:xfrm>
          <a:prstGeom prst="rect">
            <a:avLst/>
          </a:prstGeom>
          <a:solidFill>
            <a:srgbClr val="006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746504"/>
            <a:ext cx="3154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Biosignal Features (35)</a:t>
            </a:r>
          </a:p>
        </p:txBody>
      </p:sp>
      <p:sp>
        <p:nvSpPr>
          <p:cNvPr id="9" name="Rectangle 8"/>
          <p:cNvSpPr/>
          <p:nvPr/>
        </p:nvSpPr>
        <p:spPr>
          <a:xfrm>
            <a:off x="8439912" y="1655064"/>
            <a:ext cx="3291840" cy="594360"/>
          </a:xfrm>
          <a:prstGeom prst="rect">
            <a:avLst/>
          </a:prstGeom>
          <a:solidFill>
            <a:srgbClr val="1B6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531352" y="1746504"/>
            <a:ext cx="3154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Landmark Features (22)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2322576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00878A"/>
                </a:solidFill>
                <a:latin typeface="Calibri"/>
              </a:rPr>
              <a:t>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20072" y="2322576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00878A"/>
                </a:solidFill>
                <a:latin typeface="Calibri"/>
              </a:rPr>
              <a:t>↓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706624"/>
            <a:ext cx="3291840" cy="594360"/>
          </a:xfrm>
          <a:prstGeom prst="rect">
            <a:avLst/>
          </a:prstGeom>
          <a:solidFill>
            <a:srgbClr val="006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8640" y="2743200"/>
            <a:ext cx="315468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RF Biosignal
(300 trees, depth 4)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39912" y="2706624"/>
            <a:ext cx="3291840" cy="594360"/>
          </a:xfrm>
          <a:prstGeom prst="rect">
            <a:avLst/>
          </a:prstGeom>
          <a:solidFill>
            <a:srgbClr val="1B6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531352" y="2743200"/>
            <a:ext cx="315468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RF Landmark
(300 trees, depth 4)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374136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878A"/>
                </a:solidFill>
                <a:latin typeface="Calibri"/>
              </a:rPr>
              <a:t>↓  P(PA2), P(PA3)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97112" y="3374136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E7D32"/>
                </a:solidFill>
                <a:latin typeface="Calibri"/>
              </a:rPr>
              <a:t>↓  P(PA2), P(PA3)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078224" y="3758184"/>
            <a:ext cx="4023360" cy="438912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169664" y="3813048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Concatenate → [P_bio_PA2, P_bio_PA3, P_lm_PA2, P_lm_PA3]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07024" y="4215384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00878A"/>
                </a:solidFill>
                <a:latin typeface="Calibri"/>
              </a:rPr>
              <a:t>↓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078224" y="4581144"/>
            <a:ext cx="4023360" cy="5943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169664" y="4672584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Logistic Regression (meta-learner)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07024" y="5212080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E86B1A"/>
                </a:solidFill>
                <a:latin typeface="Calibri"/>
              </a:rPr>
              <a:t>↓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61104" y="5586984"/>
            <a:ext cx="3657600" cy="59436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352544" y="5678424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Final Prediction: PA2 or PA3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74152" y="1655064"/>
            <a:ext cx="3749039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87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211312" y="1746504"/>
            <a:ext cx="73152" cy="292608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348472" y="1746504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878A"/>
                </a:solidFill>
                <a:latin typeface="Calibri"/>
              </a:rPr>
              <a:t>WHY THESE CHOICES?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11312" y="2130552"/>
            <a:ext cx="3474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▸ RF beats deep learning at N=67 — shallow depth prevents overfitting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▸ min_samples_split=10 forces generalizable splits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▸ Stacked (65.3%) &gt; Early fusion (64.6%) — calibrated probs more informative than raw features on different scales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▸ LogReg meta-learner is regularized, fast, interpretable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▸ Person-norm applied inside each fold — zero leakage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74152" y="5495544"/>
            <a:ext cx="3749039" cy="10058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211312" y="5541264"/>
            <a:ext cx="3520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E86B1A"/>
                </a:solidFill>
                <a:latin typeface="Calibri"/>
              </a:rPr>
              <a:t>RESULT
65.3% ± 14.1%  LOSO-67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74320" y="6611112"/>
            <a:ext cx="7315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BCC"/>
                </a:solidFill>
                <a:latin typeface="Calibri"/>
              </a:rPr>
              <a:t>EmPath v2  |  Komala Belur Srinivas  |  Hofstra University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091672" y="6611112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6 / 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5743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15+ Architectures Systematically Evaluated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54864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20040" y="1472184"/>
            <a:ext cx="3849624" cy="347472"/>
          </a:xfrm>
          <a:prstGeom prst="rect">
            <a:avLst/>
          </a:prstGeom>
          <a:solidFill>
            <a:srgbClr val="D6F0F0"/>
          </a:solidFill>
          <a:ln w="9525">
            <a:solidFill>
              <a:srgbClr val="0087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1508760"/>
            <a:ext cx="3758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2B55"/>
                </a:solidFill>
                <a:latin typeface="Calibri"/>
              </a:rPr>
              <a:t>Model</a:t>
            </a:r>
          </a:p>
        </p:txBody>
      </p:sp>
      <p:sp>
        <p:nvSpPr>
          <p:cNvPr id="8" name="Rectangle 7"/>
          <p:cNvSpPr/>
          <p:nvPr/>
        </p:nvSpPr>
        <p:spPr>
          <a:xfrm>
            <a:off x="4169664" y="1472184"/>
            <a:ext cx="3849624" cy="347472"/>
          </a:xfrm>
          <a:prstGeom prst="rect">
            <a:avLst/>
          </a:prstGeom>
          <a:solidFill>
            <a:srgbClr val="D6F0F0"/>
          </a:solidFill>
          <a:ln w="9525">
            <a:solidFill>
              <a:srgbClr val="0087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215384" y="1508760"/>
            <a:ext cx="3758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2B55"/>
                </a:solidFill>
                <a:latin typeface="Calibri"/>
              </a:rPr>
              <a:t>Protocol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19288" y="1472184"/>
            <a:ext cx="3849624" cy="347472"/>
          </a:xfrm>
          <a:prstGeom prst="rect">
            <a:avLst/>
          </a:prstGeom>
          <a:solidFill>
            <a:srgbClr val="D6F0F0"/>
          </a:solidFill>
          <a:ln w="9525">
            <a:solidFill>
              <a:srgbClr val="0087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65008" y="1508760"/>
            <a:ext cx="3758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2B55"/>
                </a:solidFill>
                <a:latin typeface="Calibri"/>
              </a:rPr>
              <a:t>Accuracy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1819656"/>
            <a:ext cx="3849624" cy="347472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" y="1856232"/>
            <a:ext cx="3758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Vision MobileNetV2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69664" y="1819656"/>
            <a:ext cx="3849624" cy="347472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215384" y="1856232"/>
            <a:ext cx="3758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Random split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19288" y="1819656"/>
            <a:ext cx="3849624" cy="347472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065008" y="1856232"/>
            <a:ext cx="3758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47.2%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2167128"/>
            <a:ext cx="3849624" cy="347472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65760" y="2203704"/>
            <a:ext cx="3758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Biosignal SVM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69664" y="2167128"/>
            <a:ext cx="3849624" cy="347472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215384" y="2203704"/>
            <a:ext cx="3758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Random split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19288" y="2167128"/>
            <a:ext cx="3849624" cy="347472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065008" y="2203704"/>
            <a:ext cx="3758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48.8%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2514600"/>
            <a:ext cx="3849624" cy="347472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65760" y="2551176"/>
            <a:ext cx="3758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Biosignal MLP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69664" y="2514600"/>
            <a:ext cx="3849624" cy="347472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215384" y="2551176"/>
            <a:ext cx="3758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Random split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19288" y="2514600"/>
            <a:ext cx="3849624" cy="347472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065008" y="2551176"/>
            <a:ext cx="3758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51.2%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2862072"/>
            <a:ext cx="3849624" cy="347472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65760" y="2898648"/>
            <a:ext cx="3758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Landmark RF (flat)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69664" y="2862072"/>
            <a:ext cx="3849624" cy="347472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215384" y="2898648"/>
            <a:ext cx="3758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Random split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019288" y="2862072"/>
            <a:ext cx="3849624" cy="347472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065008" y="2898648"/>
            <a:ext cx="3758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51.6%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" y="3209544"/>
            <a:ext cx="3849624" cy="347472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65760" y="3246120"/>
            <a:ext cx="3758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Biosignal XGBoost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169664" y="3209544"/>
            <a:ext cx="3849624" cy="347472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215384" y="3246120"/>
            <a:ext cx="3758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Random split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019288" y="3209544"/>
            <a:ext cx="3849624" cy="347472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065008" y="3246120"/>
            <a:ext cx="3758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54.1%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0040" y="3557016"/>
            <a:ext cx="3849624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65760" y="3593592"/>
            <a:ext cx="3758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BIOT Foundation Model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169664" y="3557016"/>
            <a:ext cx="3849624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215384" y="3593592"/>
            <a:ext cx="3758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LOSO-67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019288" y="3557016"/>
            <a:ext cx="3849624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065008" y="3593592"/>
            <a:ext cx="3758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54.4%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20040" y="3904488"/>
            <a:ext cx="3849624" cy="347472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365760" y="3941064"/>
            <a:ext cx="3758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Biosignal TCN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169664" y="3904488"/>
            <a:ext cx="3849624" cy="347472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4215384" y="3941064"/>
            <a:ext cx="3758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Random split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019288" y="3904488"/>
            <a:ext cx="3849624" cy="347472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8065008" y="3941064"/>
            <a:ext cx="3758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55.9%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20040" y="4251960"/>
            <a:ext cx="3849624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365760" y="4288536"/>
            <a:ext cx="3758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PainFormer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169664" y="4251960"/>
            <a:ext cx="3849624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4215384" y="4288536"/>
            <a:ext cx="3758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LOSO-67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019288" y="4251960"/>
            <a:ext cx="3849624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8065008" y="4288536"/>
            <a:ext cx="3758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53.1%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20040" y="4599432"/>
            <a:ext cx="3849624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365760" y="4636008"/>
            <a:ext cx="3758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Tiny-BioMoE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169664" y="4599432"/>
            <a:ext cx="3849624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4215384" y="4636008"/>
            <a:ext cx="3758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LOSO-67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019288" y="4599432"/>
            <a:ext cx="3849624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8065008" y="4636008"/>
            <a:ext cx="3758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56.7%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20040" y="4946904"/>
            <a:ext cx="3849624" cy="347472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365760" y="4983480"/>
            <a:ext cx="3758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Biosignal RF (67 subjects)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169664" y="4946904"/>
            <a:ext cx="3849624" cy="347472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4215384" y="4983480"/>
            <a:ext cx="3758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Random split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019288" y="4946904"/>
            <a:ext cx="3849624" cy="347472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8065008" y="4983480"/>
            <a:ext cx="3758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59.5%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20040" y="5294376"/>
            <a:ext cx="3849624" cy="347472"/>
          </a:xfrm>
          <a:prstGeom prst="rect">
            <a:avLst/>
          </a:prstGeom>
          <a:solidFill>
            <a:srgbClr val="D6F0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365760" y="5330952"/>
            <a:ext cx="3758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Biosignal RF + person-norm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169664" y="5294376"/>
            <a:ext cx="3849624" cy="347472"/>
          </a:xfrm>
          <a:prstGeom prst="rect">
            <a:avLst/>
          </a:prstGeom>
          <a:solidFill>
            <a:srgbClr val="D6F0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4215384" y="5330952"/>
            <a:ext cx="3758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LOSO-67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019288" y="5294376"/>
            <a:ext cx="3849624" cy="347472"/>
          </a:xfrm>
          <a:prstGeom prst="rect">
            <a:avLst/>
          </a:prstGeom>
          <a:solidFill>
            <a:srgbClr val="D6F0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8065008" y="5330952"/>
            <a:ext cx="3758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63.1%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20040" y="5641848"/>
            <a:ext cx="3849624" cy="347472"/>
          </a:xfrm>
          <a:prstGeom prst="rect">
            <a:avLst/>
          </a:prstGeom>
          <a:solidFill>
            <a:srgbClr val="D6F0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365760" y="5678424"/>
            <a:ext cx="3758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Landmark RF (flat)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169664" y="5641848"/>
            <a:ext cx="3849624" cy="347472"/>
          </a:xfrm>
          <a:prstGeom prst="rect">
            <a:avLst/>
          </a:prstGeom>
          <a:solidFill>
            <a:srgbClr val="D6F0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4215384" y="5678424"/>
            <a:ext cx="3758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LOSO-67</a:t>
            </a:r>
          </a:p>
        </p:txBody>
      </p:sp>
      <p:sp>
        <p:nvSpPr>
          <p:cNvPr id="82" name="Rectangle 81"/>
          <p:cNvSpPr/>
          <p:nvPr/>
        </p:nvSpPr>
        <p:spPr>
          <a:xfrm>
            <a:off x="8019288" y="5641848"/>
            <a:ext cx="3849624" cy="347472"/>
          </a:xfrm>
          <a:prstGeom prst="rect">
            <a:avLst/>
          </a:prstGeom>
          <a:solidFill>
            <a:srgbClr val="D6F0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8065008" y="5678424"/>
            <a:ext cx="3758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61.4%</a:t>
            </a:r>
          </a:p>
        </p:txBody>
      </p:sp>
      <p:sp>
        <p:nvSpPr>
          <p:cNvPr id="84" name="Rectangle 83"/>
          <p:cNvSpPr/>
          <p:nvPr/>
        </p:nvSpPr>
        <p:spPr>
          <a:xfrm>
            <a:off x="320040" y="5989320"/>
            <a:ext cx="3849624" cy="347472"/>
          </a:xfrm>
          <a:prstGeom prst="rect">
            <a:avLst/>
          </a:prstGeom>
          <a:solidFill>
            <a:srgbClr val="D6F0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365760" y="6025896"/>
            <a:ext cx="3758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Early fusion (concat)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169664" y="5989320"/>
            <a:ext cx="3849624" cy="347472"/>
          </a:xfrm>
          <a:prstGeom prst="rect">
            <a:avLst/>
          </a:prstGeom>
          <a:solidFill>
            <a:srgbClr val="D6F0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4215384" y="6025896"/>
            <a:ext cx="3758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LOSO-67</a:t>
            </a:r>
          </a:p>
        </p:txBody>
      </p:sp>
      <p:sp>
        <p:nvSpPr>
          <p:cNvPr id="88" name="Rectangle 87"/>
          <p:cNvSpPr/>
          <p:nvPr/>
        </p:nvSpPr>
        <p:spPr>
          <a:xfrm>
            <a:off x="8019288" y="5989320"/>
            <a:ext cx="3849624" cy="347472"/>
          </a:xfrm>
          <a:prstGeom prst="rect">
            <a:avLst/>
          </a:prstGeom>
          <a:solidFill>
            <a:srgbClr val="D6F0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8065008" y="6025896"/>
            <a:ext cx="3758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64.6%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320040" y="6336792"/>
            <a:ext cx="3849624" cy="347472"/>
          </a:xfrm>
          <a:prstGeom prst="rect">
            <a:avLst/>
          </a:prstGeom>
          <a:solidFill>
            <a:srgbClr val="D6F0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365760" y="6373368"/>
            <a:ext cx="3758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Subject adaptation RF</a:t>
            </a:r>
          </a:p>
        </p:txBody>
      </p:sp>
      <p:sp>
        <p:nvSpPr>
          <p:cNvPr id="92" name="Rectangle 91"/>
          <p:cNvSpPr/>
          <p:nvPr/>
        </p:nvSpPr>
        <p:spPr>
          <a:xfrm>
            <a:off x="4169664" y="6336792"/>
            <a:ext cx="3849624" cy="347472"/>
          </a:xfrm>
          <a:prstGeom prst="rect">
            <a:avLst/>
          </a:prstGeom>
          <a:solidFill>
            <a:srgbClr val="D6F0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4215384" y="6373368"/>
            <a:ext cx="3758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LOSO-67</a:t>
            </a:r>
          </a:p>
        </p:txBody>
      </p:sp>
      <p:sp>
        <p:nvSpPr>
          <p:cNvPr id="94" name="Rectangle 93"/>
          <p:cNvSpPr/>
          <p:nvPr/>
        </p:nvSpPr>
        <p:spPr>
          <a:xfrm>
            <a:off x="8019288" y="6336792"/>
            <a:ext cx="3849624" cy="347472"/>
          </a:xfrm>
          <a:prstGeom prst="rect">
            <a:avLst/>
          </a:prstGeom>
          <a:solidFill>
            <a:srgbClr val="D6F0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8065008" y="6373368"/>
            <a:ext cx="3758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65.1%</a:t>
            </a:r>
          </a:p>
        </p:txBody>
      </p:sp>
      <p:sp>
        <p:nvSpPr>
          <p:cNvPr id="96" name="Rectangle 95"/>
          <p:cNvSpPr/>
          <p:nvPr/>
        </p:nvSpPr>
        <p:spPr>
          <a:xfrm>
            <a:off x="320040" y="6684264"/>
            <a:ext cx="3849624" cy="347472"/>
          </a:xfrm>
          <a:prstGeom prst="rect">
            <a:avLst/>
          </a:prstGeom>
          <a:solidFill>
            <a:srgbClr val="D6F0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365760" y="6720840"/>
            <a:ext cx="3758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CORAL ordinal MLP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169664" y="6684264"/>
            <a:ext cx="3849624" cy="347472"/>
          </a:xfrm>
          <a:prstGeom prst="rect">
            <a:avLst/>
          </a:prstGeom>
          <a:solidFill>
            <a:srgbClr val="D6F0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4215384" y="6720840"/>
            <a:ext cx="3758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LOSO-67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8019288" y="6684264"/>
            <a:ext cx="3849624" cy="347472"/>
          </a:xfrm>
          <a:prstGeom prst="rect">
            <a:avLst/>
          </a:prstGeom>
          <a:solidFill>
            <a:srgbClr val="D6F0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8065008" y="6720840"/>
            <a:ext cx="3758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65.3%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320040" y="7031736"/>
            <a:ext cx="3849624" cy="347472"/>
          </a:xfrm>
          <a:prstGeom prst="rect">
            <a:avLst/>
          </a:prstGeom>
          <a:solidFill>
            <a:srgbClr val="E86B1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365760" y="7068312"/>
            <a:ext cx="3758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EmPath Stacked Fusion ★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169664" y="7031736"/>
            <a:ext cx="3849624" cy="347472"/>
          </a:xfrm>
          <a:prstGeom prst="rect">
            <a:avLst/>
          </a:prstGeom>
          <a:solidFill>
            <a:srgbClr val="E86B1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4215384" y="7068312"/>
            <a:ext cx="3758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LOSO-67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8019288" y="7031736"/>
            <a:ext cx="3849624" cy="347472"/>
          </a:xfrm>
          <a:prstGeom prst="rect">
            <a:avLst/>
          </a:prstGeom>
          <a:solidFill>
            <a:srgbClr val="E86B1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8065008" y="7068312"/>
            <a:ext cx="3758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65.3% ± 14.1%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274320" y="6611112"/>
            <a:ext cx="7315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BCC"/>
                </a:solidFill>
                <a:latin typeface="Calibri"/>
              </a:rPr>
              <a:t>EmPath v2  |  Komala Belur Srinivas  |  Hofstra University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1091672" y="6611112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7 / 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5743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Novel Contribution 1 — Graph Attention Network on Facial Landmarks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04672"/>
            <a:ext cx="114574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AACCDD"/>
                </a:solidFill>
                <a:latin typeface="Calibri"/>
              </a:rPr>
              <a:t>Modeling anatomical co-activation in facial pain expression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34440"/>
            <a:ext cx="12188952" cy="54864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0040" y="1472184"/>
            <a:ext cx="5486400" cy="493776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609344"/>
            <a:ext cx="73152" cy="292608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1609344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878A"/>
                </a:solidFill>
                <a:latin typeface="Calibri"/>
              </a:rPr>
              <a:t>HYPOTHESIS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929384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22 flat statistics discard spatial relationships. A GNN learns relational co-activation: 'brow lowers simultaneously with lip tightening'.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615184"/>
            <a:ext cx="73152" cy="292608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360" y="2615184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878A"/>
                </a:solidFill>
                <a:latin typeface="Calibri"/>
              </a:rPr>
              <a:t>ARCHITECTURE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953512"/>
            <a:ext cx="52120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▸ Nodes: 468 MediaPipe landmarks, features = (x,y) coordinates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▸ Edges: Delaunay triangulation → 1,365 edges per frame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▸ Per-frame normalization: nose-centered, IOD-scaled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▸ 2-layer GAT (Graph Attention), 4 attention heads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▸ Global mean pool → 32-dim embedding per frame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▸ Average 24 frames → sample embedding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▸ Stack with RF_biosignal probs → LogReg final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5129784"/>
            <a:ext cx="73152" cy="292608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5129784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878A"/>
                </a:solidFill>
                <a:latin typeface="Calibri"/>
              </a:rPr>
              <a:t>IMPLEMENTATION CHALLENGE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5449824"/>
            <a:ext cx="5212080" cy="822960"/>
          </a:xfrm>
          <a:prstGeom prst="rect">
            <a:avLst/>
          </a:prstGeom>
          <a:solidFill>
            <a:srgbClr val="D6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94360" y="5513832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2B55"/>
                </a:solidFill>
                <a:latin typeface="Calibri"/>
              </a:rPr>
              <a:t>Batch.from_data_list() — 5 min/fold (too slow for 67 folds).
Fix: GPU-cached vectorized batching — precomputed edge offsets on GPU, eliminated 33MB edge_index transfer per batch → ~90 sec/fold.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35040" y="1472184"/>
            <a:ext cx="580644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72200" y="1609344"/>
            <a:ext cx="73152" cy="292608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09360" y="1609344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878A"/>
                </a:solidFill>
                <a:latin typeface="Calibri"/>
              </a:rPr>
              <a:t>RESULTS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72200" y="1947672"/>
            <a:ext cx="1828800" cy="347472"/>
          </a:xfrm>
          <a:prstGeom prst="rect">
            <a:avLst/>
          </a:prstGeom>
          <a:solidFill>
            <a:srgbClr val="D6F0F0"/>
          </a:solidFill>
          <a:ln w="9525">
            <a:solidFill>
              <a:srgbClr val="0087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217920" y="1984248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2B55"/>
                </a:solidFill>
                <a:latin typeface="Calibri"/>
              </a:rPr>
              <a:t>Model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01000" y="1947672"/>
            <a:ext cx="1828800" cy="347472"/>
          </a:xfrm>
          <a:prstGeom prst="rect">
            <a:avLst/>
          </a:prstGeom>
          <a:solidFill>
            <a:srgbClr val="D6F0F0"/>
          </a:solidFill>
          <a:ln w="9525">
            <a:solidFill>
              <a:srgbClr val="0087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046720" y="1984248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2B55"/>
                </a:solidFill>
                <a:latin typeface="Calibri"/>
              </a:rPr>
              <a:t>Accuracy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829800" y="1947672"/>
            <a:ext cx="1828800" cy="347472"/>
          </a:xfrm>
          <a:prstGeom prst="rect">
            <a:avLst/>
          </a:prstGeom>
          <a:solidFill>
            <a:srgbClr val="D6F0F0"/>
          </a:solidFill>
          <a:ln w="9525">
            <a:solidFill>
              <a:srgbClr val="0087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875520" y="1984248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2B55"/>
                </a:solidFill>
                <a:latin typeface="Calibri"/>
              </a:rPr>
              <a:t>Std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72200" y="2295144"/>
            <a:ext cx="1828800" cy="347472"/>
          </a:xfrm>
          <a:prstGeom prst="rect">
            <a:avLst/>
          </a:prstGeom>
          <a:solidFill>
            <a:srgbClr val="C6282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217920" y="2331720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Calibri"/>
              </a:rPr>
              <a:t>GNN landmarks only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01000" y="2295144"/>
            <a:ext cx="1828800" cy="347472"/>
          </a:xfrm>
          <a:prstGeom prst="rect">
            <a:avLst/>
          </a:prstGeom>
          <a:solidFill>
            <a:srgbClr val="C6282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046720" y="2331720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Calibri"/>
              </a:rPr>
              <a:t>51.7%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829800" y="2295144"/>
            <a:ext cx="1828800" cy="347472"/>
          </a:xfrm>
          <a:prstGeom prst="rect">
            <a:avLst/>
          </a:prstGeom>
          <a:solidFill>
            <a:srgbClr val="C6282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875520" y="2331720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Calibri"/>
              </a:rPr>
              <a:t>±9.8%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72200" y="2642616"/>
            <a:ext cx="1828800" cy="347472"/>
          </a:xfrm>
          <a:prstGeom prst="rect">
            <a:avLst/>
          </a:prstGeom>
          <a:solidFill>
            <a:srgbClr val="D6F0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217920" y="2679192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Calibri"/>
              </a:rPr>
              <a:t>GNN + RF biosignal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01000" y="2642616"/>
            <a:ext cx="1828800" cy="347472"/>
          </a:xfrm>
          <a:prstGeom prst="rect">
            <a:avLst/>
          </a:prstGeom>
          <a:solidFill>
            <a:srgbClr val="D6F0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046720" y="2679192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Calibri"/>
              </a:rPr>
              <a:t>63.1%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829800" y="2642616"/>
            <a:ext cx="1828800" cy="347472"/>
          </a:xfrm>
          <a:prstGeom prst="rect">
            <a:avLst/>
          </a:prstGeom>
          <a:solidFill>
            <a:srgbClr val="D6F0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875520" y="2679192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Calibri"/>
              </a:rPr>
              <a:t>±11.9%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72200" y="2990088"/>
            <a:ext cx="1828800" cy="347472"/>
          </a:xfrm>
          <a:prstGeom prst="rect">
            <a:avLst/>
          </a:prstGeom>
          <a:solidFill>
            <a:srgbClr val="E86B1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217920" y="3026664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Calibri"/>
              </a:rPr>
              <a:t>Baseline stacked fusion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001000" y="2990088"/>
            <a:ext cx="1828800" cy="347472"/>
          </a:xfrm>
          <a:prstGeom prst="rect">
            <a:avLst/>
          </a:prstGeom>
          <a:solidFill>
            <a:srgbClr val="E86B1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046720" y="3026664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Calibri"/>
              </a:rPr>
              <a:t>65.3%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829800" y="2990088"/>
            <a:ext cx="1828800" cy="347472"/>
          </a:xfrm>
          <a:prstGeom prst="rect">
            <a:avLst/>
          </a:prstGeom>
          <a:solidFill>
            <a:srgbClr val="E86B1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9875520" y="3026664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Calibri"/>
              </a:rPr>
              <a:t>±14.1%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035040" y="3803904"/>
            <a:ext cx="5806440" cy="26060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6172200" y="3941064"/>
            <a:ext cx="73152" cy="292608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309360" y="3941064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878A"/>
                </a:solidFill>
                <a:latin typeface="Calibri"/>
              </a:rPr>
              <a:t>WHY IT FAILED TO BEAT BASELINE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172200" y="3941064"/>
            <a:ext cx="91440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" b="0" i="0">
                <a:solidFill>
                  <a:srgbClr val="FFFFFF"/>
                </a:solidFill>
                <a:latin typeface="Calibri"/>
              </a:rPr>
              <a:t>  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172200" y="4288536"/>
            <a:ext cx="54864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0"/>
              </a:spcAft>
            </a:pPr>
            <a:r>
              <a:rPr sz="1300">
                <a:solidFill>
                  <a:srgbClr val="FFFFFF"/>
                </a:solidFill>
                <a:latin typeface="Calibri"/>
              </a:rPr>
              <a:t>▸ 67 subjects is too few to train a GNN to learn spatial representations from scratch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300">
                <a:solidFill>
                  <a:srgbClr val="FFFFFF"/>
                </a:solidFill>
                <a:latin typeface="Calibri"/>
              </a:rPr>
              <a:t>▸ Graph topology learning requires many examples per edge pattern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300">
                <a:solidFill>
                  <a:srgbClr val="FFFFFF"/>
                </a:solidFill>
                <a:latin typeface="Calibri"/>
              </a:rPr>
              <a:t>▸ RF has built-in structural inductive bias; GAT must learn it from data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300">
                <a:solidFill>
                  <a:srgbClr val="FFFFFF"/>
                </a:solidFill>
                <a:latin typeface="Calibri"/>
              </a:rPr>
              <a:t>▸ This is a sample size bottleneck, not an architectural failure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300">
                <a:solidFill>
                  <a:srgbClr val="FFFFFF"/>
                </a:solidFill>
                <a:latin typeface="Calibri"/>
              </a:rPr>
              <a:t>▸ With N=500+ subjects, GNN would likely outperform flat features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035040" y="6501384"/>
            <a:ext cx="5806440" cy="594360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172200" y="6565392"/>
            <a:ext cx="5532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No published BioVid paper uses GNNs on MediaPipe FaceMesh — genuinely novel methodology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274320" y="6611112"/>
            <a:ext cx="7315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BCC"/>
                </a:solidFill>
                <a:latin typeface="Calibri"/>
              </a:rPr>
              <a:t>EmPath v2  |  Komala Belur Srinivas  |  Hofstra University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091672" y="6611112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8 / 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5743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Novel Contribution 2 — DANN Domain Adaptation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04672"/>
            <a:ext cx="114574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AACCDD"/>
                </a:solidFill>
                <a:latin typeface="Calibri"/>
              </a:rPr>
              <a:t>Adversarial training for subject-invariant pain features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34440"/>
            <a:ext cx="12188952" cy="54864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0040" y="1472184"/>
            <a:ext cx="73152" cy="292608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472184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878A"/>
                </a:solidFill>
                <a:latin typeface="Calibri"/>
              </a:rPr>
              <a:t>HYPOTHESIS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792224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±14.1% std means the model is inconsistent across subjects. Force the encoder to learn features that are informative for pain but useless for identifying the subject.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386584"/>
            <a:ext cx="2743200" cy="457200"/>
          </a:xfrm>
          <a:prstGeom prst="rect">
            <a:avLst/>
          </a:prstGeom>
          <a:solidFill>
            <a:srgbClr val="006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2450592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Biosignal Features (35)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862072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00878A"/>
                </a:solidFill>
                <a:latin typeface="Calibri"/>
              </a:rPr>
              <a:t>↓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227832"/>
            <a:ext cx="2743200" cy="502920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3264408"/>
            <a:ext cx="2651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Shared FC Encoder
35 → 64 → 32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749039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2E7D32"/>
                </a:solidFill>
                <a:latin typeface="Calibri"/>
              </a:rPr>
              <a:t>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3120" y="3749039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C62828"/>
                </a:solidFill>
                <a:latin typeface="Calibri"/>
              </a:rPr>
              <a:t>↓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114800"/>
            <a:ext cx="1188720" cy="65836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2920" y="4151376"/>
            <a:ext cx="1097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Pain
Classifier
FC(32→2)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920240" y="4114800"/>
            <a:ext cx="1280160" cy="658368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965960" y="4151376"/>
            <a:ext cx="1188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Gradient
Reversal
Layer (GRL)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77440" y="4791456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C62828"/>
                </a:solidFill>
                <a:latin typeface="Calibri"/>
              </a:rPr>
              <a:t>↓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0" y="5120640"/>
            <a:ext cx="1371600" cy="658368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874520" y="5157216"/>
            <a:ext cx="1280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Subject
Classifier
FC(32→67)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520440" y="2386584"/>
            <a:ext cx="384048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87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657600" y="2523744"/>
            <a:ext cx="73152" cy="292608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794760" y="2523744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878A"/>
                </a:solidFill>
                <a:latin typeface="Calibri"/>
              </a:rPr>
              <a:t>GRADIENT REVERSAL LAYER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0" y="2862072"/>
            <a:ext cx="35661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Forward pass: identity function — passes features through unchanged
Backward pass: multiply gradient by −α
Effect: encoder learns features that maximize pain classification accuracy AND minimize subject identification accuracy simultaneously.
Only 5 lines of PyTorch (torch.autograd.Function).
α ramps 0→1 over training — starts with pure pain learning, gradually adds adversarial domain pressure.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589520" y="2386584"/>
            <a:ext cx="425196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7726679" y="2523744"/>
            <a:ext cx="73152" cy="292608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863839" y="2523744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878A"/>
                </a:solidFill>
                <a:latin typeface="Calibri"/>
              </a:rPr>
              <a:t>RESULTS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26679" y="2862072"/>
            <a:ext cx="1325879" cy="347472"/>
          </a:xfrm>
          <a:prstGeom prst="rect">
            <a:avLst/>
          </a:prstGeom>
          <a:solidFill>
            <a:srgbClr val="D6F0F0"/>
          </a:solidFill>
          <a:ln w="9525">
            <a:solidFill>
              <a:srgbClr val="0087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772399" y="2898648"/>
            <a:ext cx="12344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2B55"/>
                </a:solidFill>
                <a:latin typeface="Calibri"/>
              </a:rPr>
              <a:t>Model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052558" y="2862072"/>
            <a:ext cx="1325879" cy="347472"/>
          </a:xfrm>
          <a:prstGeom prst="rect">
            <a:avLst/>
          </a:prstGeom>
          <a:solidFill>
            <a:srgbClr val="D6F0F0"/>
          </a:solidFill>
          <a:ln w="9525">
            <a:solidFill>
              <a:srgbClr val="0087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098278" y="2898648"/>
            <a:ext cx="12344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2B55"/>
                </a:solidFill>
                <a:latin typeface="Calibri"/>
              </a:rPr>
              <a:t>Accuracy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378437" y="2862072"/>
            <a:ext cx="1325879" cy="347472"/>
          </a:xfrm>
          <a:prstGeom prst="rect">
            <a:avLst/>
          </a:prstGeom>
          <a:solidFill>
            <a:srgbClr val="D6F0F0"/>
          </a:solidFill>
          <a:ln w="9525">
            <a:solidFill>
              <a:srgbClr val="0087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0424157" y="2898648"/>
            <a:ext cx="12344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2B55"/>
                </a:solidFill>
                <a:latin typeface="Calibri"/>
              </a:rPr>
              <a:t>Std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26679" y="3209544"/>
            <a:ext cx="1325879" cy="347472"/>
          </a:xfrm>
          <a:prstGeom prst="rect">
            <a:avLst/>
          </a:prstGeom>
          <a:solidFill>
            <a:srgbClr val="D6F0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772399" y="3246120"/>
            <a:ext cx="12344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DANN biosignal only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052558" y="3209544"/>
            <a:ext cx="1325879" cy="347472"/>
          </a:xfrm>
          <a:prstGeom prst="rect">
            <a:avLst/>
          </a:prstGeom>
          <a:solidFill>
            <a:srgbClr val="D6F0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098278" y="3246120"/>
            <a:ext cx="12344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61.6%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378437" y="3209544"/>
            <a:ext cx="1325879" cy="347472"/>
          </a:xfrm>
          <a:prstGeom prst="rect">
            <a:avLst/>
          </a:prstGeom>
          <a:solidFill>
            <a:srgbClr val="D6F0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0424157" y="3246120"/>
            <a:ext cx="12344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±10.3%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726679" y="3557016"/>
            <a:ext cx="1325879" cy="347472"/>
          </a:xfrm>
          <a:prstGeom prst="rect">
            <a:avLst/>
          </a:prstGeom>
          <a:solidFill>
            <a:srgbClr val="D6F0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772399" y="3593592"/>
            <a:ext cx="12344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DANN + RF landmarks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052558" y="3557016"/>
            <a:ext cx="1325879" cy="347472"/>
          </a:xfrm>
          <a:prstGeom prst="rect">
            <a:avLst/>
          </a:prstGeom>
          <a:solidFill>
            <a:srgbClr val="D6F0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9098278" y="3593592"/>
            <a:ext cx="12344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64.7%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0378437" y="3557016"/>
            <a:ext cx="1325879" cy="347472"/>
          </a:xfrm>
          <a:prstGeom prst="rect">
            <a:avLst/>
          </a:prstGeom>
          <a:solidFill>
            <a:srgbClr val="D6F0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10424157" y="3593592"/>
            <a:ext cx="12344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±11.8%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726679" y="3904488"/>
            <a:ext cx="1325879" cy="347472"/>
          </a:xfrm>
          <a:prstGeom prst="rect">
            <a:avLst/>
          </a:prstGeom>
          <a:solidFill>
            <a:srgbClr val="E86B1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7772399" y="3941064"/>
            <a:ext cx="12344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Baseline stacked fusion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52558" y="3904488"/>
            <a:ext cx="1325879" cy="347472"/>
          </a:xfrm>
          <a:prstGeom prst="rect">
            <a:avLst/>
          </a:prstGeom>
          <a:solidFill>
            <a:srgbClr val="E86B1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098278" y="3941064"/>
            <a:ext cx="12344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65.3%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0378437" y="3904488"/>
            <a:ext cx="1325879" cy="347472"/>
          </a:xfrm>
          <a:prstGeom prst="rect">
            <a:avLst/>
          </a:prstGeom>
          <a:solidFill>
            <a:srgbClr val="E86B1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10424157" y="3941064"/>
            <a:ext cx="12344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±14.1%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589520" y="4443984"/>
            <a:ext cx="4251960" cy="17373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7726679" y="4535424"/>
            <a:ext cx="3977639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KEY FINDING
Std dropped from ±14.1% → ±10.3% (−3.8%).
Adversarial training makes predictions more CONSISTENT across subjects but does not improve mean accuracy — the bottleneck is sample size, not domain shift.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20040" y="6245352"/>
            <a:ext cx="11548872" cy="658368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502920" y="6336792"/>
            <a:ext cx="1118311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DANN confirmed: subject identity IS encoded in biosignals. Removing it stabilizes predictions but insufficient signal remains to surpass the RF ceiling at N=67.</a:t>
            </a:r>
          </a:p>
        </p:txBody>
      </p:sp>
      <p:sp>
        <p:nvSpPr>
          <p:cNvPr id="59" name="Rectangle 58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274320" y="6611112"/>
            <a:ext cx="7315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BCC"/>
                </a:solidFill>
                <a:latin typeface="Calibri"/>
              </a:rPr>
              <a:t>EmPath v2  |  Komala Belur Srinivas  |  Hofstra University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091672" y="6611112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9 / 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5743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Novel Contributions 3 &amp; 4 — CrossMod Attention + Landmark Velocity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54864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20040" y="1472184"/>
            <a:ext cx="5669280" cy="49834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0040" y="1472184"/>
            <a:ext cx="5669280" cy="347472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51790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CrossMod — Bidirectional Cross-Modal Attention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47672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Previous attention fusion (61.1%) used self-attention within each modality. CrossMod uses biosignals attending to landmarks and vice versa.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523744"/>
            <a:ext cx="5394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▸ bio_emb queries lm_emb → 'which landmark patterns confirm the biosignal?'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▸ lm_emb queries bio_emb → 'which physiological patterns confirm the face?'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▸ Residual + LayerNorm on both attended outputs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▸ Concatenate (128-dim) → FC → pain classifier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▸ 4 attention heads, 100 epochs, cosine LR schedule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443984"/>
            <a:ext cx="73152" cy="292608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360" y="4443984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878A"/>
                </a:solidFill>
                <a:latin typeface="Calibri"/>
              </a:rPr>
              <a:t>RESULTS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782312"/>
            <a:ext cx="1767840" cy="347472"/>
          </a:xfrm>
          <a:prstGeom prst="rect">
            <a:avLst/>
          </a:prstGeom>
          <a:solidFill>
            <a:srgbClr val="D6F0F0"/>
          </a:solidFill>
          <a:ln w="9525">
            <a:solidFill>
              <a:srgbClr val="0087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4818888"/>
            <a:ext cx="167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2B55"/>
                </a:solidFill>
                <a:latin typeface="Calibri"/>
              </a:rPr>
              <a:t>Model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25040" y="4782312"/>
            <a:ext cx="1767840" cy="347472"/>
          </a:xfrm>
          <a:prstGeom prst="rect">
            <a:avLst/>
          </a:prstGeom>
          <a:solidFill>
            <a:srgbClr val="D6F0F0"/>
          </a:solidFill>
          <a:ln w="9525">
            <a:solidFill>
              <a:srgbClr val="0087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270760" y="4818888"/>
            <a:ext cx="167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2B55"/>
                </a:solidFill>
                <a:latin typeface="Calibri"/>
              </a:rPr>
              <a:t>Acc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992880" y="4782312"/>
            <a:ext cx="1767840" cy="347472"/>
          </a:xfrm>
          <a:prstGeom prst="rect">
            <a:avLst/>
          </a:prstGeom>
          <a:solidFill>
            <a:srgbClr val="D6F0F0"/>
          </a:solidFill>
          <a:ln w="9525">
            <a:solidFill>
              <a:srgbClr val="0087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038600" y="4818888"/>
            <a:ext cx="167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2B55"/>
                </a:solidFill>
                <a:latin typeface="Calibri"/>
              </a:rPr>
              <a:t>Std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129784"/>
            <a:ext cx="1767840" cy="347472"/>
          </a:xfrm>
          <a:prstGeom prst="rect">
            <a:avLst/>
          </a:prstGeom>
          <a:solidFill>
            <a:srgbClr val="D6F0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02920" y="5166360"/>
            <a:ext cx="167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Calibri"/>
              </a:rPr>
              <a:t>CrossMod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25040" y="5129784"/>
            <a:ext cx="1767840" cy="347472"/>
          </a:xfrm>
          <a:prstGeom prst="rect">
            <a:avLst/>
          </a:prstGeom>
          <a:solidFill>
            <a:srgbClr val="D6F0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270760" y="5166360"/>
            <a:ext cx="167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Calibri"/>
              </a:rPr>
              <a:t>63.1%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992880" y="5129784"/>
            <a:ext cx="1767840" cy="347472"/>
          </a:xfrm>
          <a:prstGeom prst="rect">
            <a:avLst/>
          </a:prstGeom>
          <a:solidFill>
            <a:srgbClr val="D6F0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038600" y="5166360"/>
            <a:ext cx="167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Calibri"/>
              </a:rPr>
              <a:t>±11.1%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477256"/>
            <a:ext cx="1767840" cy="347472"/>
          </a:xfrm>
          <a:prstGeom prst="rect">
            <a:avLst/>
          </a:prstGeom>
          <a:solidFill>
            <a:srgbClr val="E86B1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02920" y="5513832"/>
            <a:ext cx="167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Calibri"/>
              </a:rPr>
              <a:t>Baseline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225040" y="5477256"/>
            <a:ext cx="1767840" cy="347472"/>
          </a:xfrm>
          <a:prstGeom prst="rect">
            <a:avLst/>
          </a:prstGeom>
          <a:solidFill>
            <a:srgbClr val="E86B1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270760" y="5513832"/>
            <a:ext cx="167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Calibri"/>
              </a:rPr>
              <a:t>65.3%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992880" y="5477256"/>
            <a:ext cx="1767840" cy="347472"/>
          </a:xfrm>
          <a:prstGeom prst="rect">
            <a:avLst/>
          </a:prstGeom>
          <a:solidFill>
            <a:srgbClr val="E86B1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038600" y="5513832"/>
            <a:ext cx="167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Calibri"/>
              </a:rPr>
              <a:t>±14.1%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5632704"/>
            <a:ext cx="5394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1A1A1A"/>
                </a:solidFill>
                <a:latin typeface="Calibri"/>
              </a:rPr>
              <a:t>−2.2% accuracy but −3.0% std. Cross-attention improves consistency. RF calibrated probs beat learned attention at N=67.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17920" y="1472184"/>
            <a:ext cx="5623560" cy="49834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217920" y="1472184"/>
            <a:ext cx="5623560" cy="34747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355080" y="1517904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Landmark Velocity — Optical Flow Proxy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55080" y="1947672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If PA3 produces faster facial movements than PA2, frame-to-frame displacement vectors should carry discriminative signal that static geometry misses.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5080" y="2523744"/>
            <a:ext cx="5303520" cy="960120"/>
          </a:xfrm>
          <a:prstGeom prst="rect">
            <a:avLst/>
          </a:prstGeom>
          <a:solidFill>
            <a:srgbClr val="D6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355080" y="2569464"/>
            <a:ext cx="5303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2B55"/>
                </a:solidFill>
                <a:latin typeface="Calibri"/>
              </a:rPr>
              <a:t>velocity[t] = position[t+1] − position[t]  →  (N, 23, 468, 2)
magnitude = ||velocity||₂  →  (N, 23, 468)
Per-frame stats: mean, std, max across 468 landmarks  →  3×23 = 69 features
Global stats: mean, std, max across all frames  →  3 features
Total: 72 velocity features per sample. No video reprocessing needed.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55080" y="3621024"/>
            <a:ext cx="73152" cy="292608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492240" y="3621024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878A"/>
                </a:solidFill>
                <a:latin typeface="Calibri"/>
              </a:rPr>
              <a:t>RESULTS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55080" y="3959352"/>
            <a:ext cx="1767840" cy="347472"/>
          </a:xfrm>
          <a:prstGeom prst="rect">
            <a:avLst/>
          </a:prstGeom>
          <a:solidFill>
            <a:srgbClr val="D6F0F0"/>
          </a:solidFill>
          <a:ln w="9525">
            <a:solidFill>
              <a:srgbClr val="0087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400800" y="3995928"/>
            <a:ext cx="167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2B55"/>
                </a:solidFill>
                <a:latin typeface="Calibri"/>
              </a:rPr>
              <a:t>Model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122920" y="3959352"/>
            <a:ext cx="1767840" cy="347472"/>
          </a:xfrm>
          <a:prstGeom prst="rect">
            <a:avLst/>
          </a:prstGeom>
          <a:solidFill>
            <a:srgbClr val="D6F0F0"/>
          </a:solidFill>
          <a:ln w="9525">
            <a:solidFill>
              <a:srgbClr val="0087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168640" y="3995928"/>
            <a:ext cx="167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2B55"/>
                </a:solidFill>
                <a:latin typeface="Calibri"/>
              </a:rPr>
              <a:t>Acc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890760" y="3959352"/>
            <a:ext cx="1767840" cy="347472"/>
          </a:xfrm>
          <a:prstGeom prst="rect">
            <a:avLst/>
          </a:prstGeom>
          <a:solidFill>
            <a:srgbClr val="D6F0F0"/>
          </a:solidFill>
          <a:ln w="9525">
            <a:solidFill>
              <a:srgbClr val="0087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936480" y="3995928"/>
            <a:ext cx="167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2B55"/>
                </a:solidFill>
                <a:latin typeface="Calibri"/>
              </a:rPr>
              <a:t>Std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355080" y="4306824"/>
            <a:ext cx="1767840" cy="347472"/>
          </a:xfrm>
          <a:prstGeom prst="rect">
            <a:avLst/>
          </a:prstGeom>
          <a:solidFill>
            <a:srgbClr val="D6F0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400800" y="4343400"/>
            <a:ext cx="167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Velocity RF only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122920" y="4306824"/>
            <a:ext cx="1767840" cy="347472"/>
          </a:xfrm>
          <a:prstGeom prst="rect">
            <a:avLst/>
          </a:prstGeom>
          <a:solidFill>
            <a:srgbClr val="D6F0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168640" y="4343400"/>
            <a:ext cx="167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60.0%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890760" y="4306824"/>
            <a:ext cx="1767840" cy="347472"/>
          </a:xfrm>
          <a:prstGeom prst="rect">
            <a:avLst/>
          </a:prstGeom>
          <a:solidFill>
            <a:srgbClr val="D6F0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9936480" y="4343400"/>
            <a:ext cx="167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±11.9%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355080" y="4654296"/>
            <a:ext cx="1767840" cy="347472"/>
          </a:xfrm>
          <a:prstGeom prst="rect">
            <a:avLst/>
          </a:prstGeom>
          <a:solidFill>
            <a:srgbClr val="D6F0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400800" y="4690872"/>
            <a:ext cx="167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Velocity + biosignal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122920" y="4654296"/>
            <a:ext cx="1767840" cy="347472"/>
          </a:xfrm>
          <a:prstGeom prst="rect">
            <a:avLst/>
          </a:prstGeom>
          <a:solidFill>
            <a:srgbClr val="D6F0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8168640" y="4690872"/>
            <a:ext cx="167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64.0%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890760" y="4654296"/>
            <a:ext cx="1767840" cy="347472"/>
          </a:xfrm>
          <a:prstGeom prst="rect">
            <a:avLst/>
          </a:prstGeom>
          <a:solidFill>
            <a:srgbClr val="D6F0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9936480" y="4690872"/>
            <a:ext cx="167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±12.7%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355080" y="5001768"/>
            <a:ext cx="1767840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6400800" y="5038344"/>
            <a:ext cx="167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Static landmark RF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122920" y="5001768"/>
            <a:ext cx="1767840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8168640" y="5038344"/>
            <a:ext cx="167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61.4%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890760" y="5001768"/>
            <a:ext cx="1767840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9936480" y="5038344"/>
            <a:ext cx="167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±13.1%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355080" y="5349240"/>
            <a:ext cx="1767840" cy="347472"/>
          </a:xfrm>
          <a:prstGeom prst="rect">
            <a:avLst/>
          </a:prstGeom>
          <a:solidFill>
            <a:srgbClr val="E86B1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6400800" y="5385816"/>
            <a:ext cx="167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Baseline stacked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122920" y="5349240"/>
            <a:ext cx="1767840" cy="347472"/>
          </a:xfrm>
          <a:prstGeom prst="rect">
            <a:avLst/>
          </a:prstGeom>
          <a:solidFill>
            <a:srgbClr val="E86B1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8168640" y="5385816"/>
            <a:ext cx="167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65.3%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890760" y="5349240"/>
            <a:ext cx="1767840" cy="347472"/>
          </a:xfrm>
          <a:prstGeom prst="rect">
            <a:avLst/>
          </a:prstGeom>
          <a:solidFill>
            <a:srgbClr val="E86B1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9936480" y="5385816"/>
            <a:ext cx="167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±14.1%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217920" y="5678424"/>
            <a:ext cx="5623560" cy="713232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6355080" y="5751576"/>
            <a:ext cx="5394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Velocity features WORSE than static positions.
PA3 is a HELD facial expression, not a fast movement. Pain signal lives in sustained geometry, not rapid motion.</a:t>
            </a:r>
          </a:p>
        </p:txBody>
      </p:sp>
      <p:sp>
        <p:nvSpPr>
          <p:cNvPr id="72" name="Rectangle 71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274320" y="6611112"/>
            <a:ext cx="7315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BCC"/>
                </a:solidFill>
                <a:latin typeface="Calibri"/>
              </a:rPr>
              <a:t>EmPath v2  |  Komala Belur Srinivas  |  Hofstra University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1091672" y="6611112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10 / 20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5743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Novel Contribution 5 — SHAP / XAI Explainability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04672"/>
            <a:ext cx="114574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AACCDD"/>
                </a:solidFill>
                <a:latin typeface="Calibri"/>
              </a:rPr>
              <a:t>Out-of-fold SHAP TreeExplainer on both RF models — no data leakage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34440"/>
            <a:ext cx="12188952" cy="54864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0040" y="1472184"/>
            <a:ext cx="73152" cy="292608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472184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878A"/>
                </a:solidFill>
                <a:latin typeface="Calibri"/>
              </a:rPr>
              <a:t>WHY XAI FOR CLINICAL DEPLOYMENT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792224"/>
            <a:ext cx="115488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A 65% accurate black box is not deployable in an ICU. Clinicians need to know WHICH signals drive each prediction before trusting it.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2295144"/>
            <a:ext cx="5394960" cy="4187952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2432304"/>
            <a:ext cx="73152" cy="292608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360" y="2432304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878A"/>
                </a:solidFill>
                <a:latin typeface="Calibri"/>
              </a:rPr>
              <a:t>TOP BIOSIGNAL FEATURES (by SHAP)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770632"/>
            <a:ext cx="1291590" cy="347472"/>
          </a:xfrm>
          <a:prstGeom prst="rect">
            <a:avLst/>
          </a:prstGeom>
          <a:solidFill>
            <a:srgbClr val="D6F0F0"/>
          </a:solidFill>
          <a:ln w="9525">
            <a:solidFill>
              <a:srgbClr val="0087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2807208"/>
            <a:ext cx="120015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2B55"/>
                </a:solidFill>
                <a:latin typeface="Calibri"/>
              </a:rPr>
              <a:t>Rank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748790" y="2770632"/>
            <a:ext cx="1291590" cy="347472"/>
          </a:xfrm>
          <a:prstGeom prst="rect">
            <a:avLst/>
          </a:prstGeom>
          <a:solidFill>
            <a:srgbClr val="D6F0F0"/>
          </a:solidFill>
          <a:ln w="9525">
            <a:solidFill>
              <a:srgbClr val="0087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794510" y="2807208"/>
            <a:ext cx="120015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2B55"/>
                </a:solidFill>
                <a:latin typeface="Calibri"/>
              </a:rPr>
              <a:t>Feature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40380" y="2770632"/>
            <a:ext cx="1291590" cy="347472"/>
          </a:xfrm>
          <a:prstGeom prst="rect">
            <a:avLst/>
          </a:prstGeom>
          <a:solidFill>
            <a:srgbClr val="D6F0F0"/>
          </a:solidFill>
          <a:ln w="9525">
            <a:solidFill>
              <a:srgbClr val="0087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086100" y="2807208"/>
            <a:ext cx="120015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2B55"/>
                </a:solidFill>
                <a:latin typeface="Calibri"/>
              </a:rPr>
              <a:t>SHAP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31970" y="2770632"/>
            <a:ext cx="1291590" cy="347472"/>
          </a:xfrm>
          <a:prstGeom prst="rect">
            <a:avLst/>
          </a:prstGeom>
          <a:solidFill>
            <a:srgbClr val="D6F0F0"/>
          </a:solidFill>
          <a:ln w="9525">
            <a:solidFill>
              <a:srgbClr val="0087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377690" y="2807208"/>
            <a:ext cx="120015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2B55"/>
                </a:solidFill>
                <a:latin typeface="Calibri"/>
              </a:rPr>
              <a:t>Clinical Meaning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118104"/>
            <a:ext cx="129159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02920" y="3154680"/>
            <a:ext cx="120015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>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748790" y="3118104"/>
            <a:ext cx="129159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794510" y="3154680"/>
            <a:ext cx="120015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>gsr_slope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040380" y="3118104"/>
            <a:ext cx="129159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086100" y="3154680"/>
            <a:ext cx="120015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>0.037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31970" y="3118104"/>
            <a:ext cx="129159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377690" y="3154680"/>
            <a:ext cx="120015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>Rate of GSR rise — sympathetic NS activation speed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3465576"/>
            <a:ext cx="1291590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02920" y="3502152"/>
            <a:ext cx="120015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>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748790" y="3465576"/>
            <a:ext cx="1291590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794510" y="3502152"/>
            <a:ext cx="120015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>gsr_std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040380" y="3465576"/>
            <a:ext cx="1291590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086100" y="3502152"/>
            <a:ext cx="120015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>0.028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331970" y="3465576"/>
            <a:ext cx="1291590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377690" y="3502152"/>
            <a:ext cx="120015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>GSR variability — autonomic turbulence under pain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3813048"/>
            <a:ext cx="129159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02920" y="3849624"/>
            <a:ext cx="120015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>3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748790" y="3813048"/>
            <a:ext cx="129159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794510" y="3849624"/>
            <a:ext cx="120015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>ecg_max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040380" y="3813048"/>
            <a:ext cx="129159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086100" y="3849624"/>
            <a:ext cx="120015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>0.020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331970" y="3813048"/>
            <a:ext cx="129159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377690" y="3849624"/>
            <a:ext cx="120015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>Peak cardiac amplitude — heart rate spike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" y="4160520"/>
            <a:ext cx="1291590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02920" y="4197096"/>
            <a:ext cx="120015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>4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748790" y="4160520"/>
            <a:ext cx="1291590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1794510" y="4197096"/>
            <a:ext cx="120015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>gsr_shannon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040380" y="4160520"/>
            <a:ext cx="1291590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3086100" y="4197096"/>
            <a:ext cx="120015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>0.014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331970" y="4160520"/>
            <a:ext cx="1291590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4377690" y="4197096"/>
            <a:ext cx="120015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>GSR entropy — arousal signal complexity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57200" y="4507992"/>
            <a:ext cx="129159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02920" y="4544568"/>
            <a:ext cx="120015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>5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748790" y="4507992"/>
            <a:ext cx="129159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1794510" y="4544568"/>
            <a:ext cx="120015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>ecg_shannon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040380" y="4507992"/>
            <a:ext cx="129159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3086100" y="4544568"/>
            <a:ext cx="120015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>0.014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331970" y="4507992"/>
            <a:ext cx="129159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4377690" y="4544568"/>
            <a:ext cx="120015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>Cardiac entropy — cardiac arousal complexity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57200" y="4855464"/>
            <a:ext cx="1291590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02920" y="4892040"/>
            <a:ext cx="120015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>6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748790" y="4855464"/>
            <a:ext cx="1291590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1794510" y="4892040"/>
            <a:ext cx="120015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>gsr_sim_corr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040380" y="4855464"/>
            <a:ext cx="1291590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3086100" y="4892040"/>
            <a:ext cx="120015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>0.014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331970" y="4855464"/>
            <a:ext cx="1291590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4377690" y="4892040"/>
            <a:ext cx="120015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>GSR similarity to pain template correlation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57200" y="5202936"/>
            <a:ext cx="129159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502920" y="5239512"/>
            <a:ext cx="120015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>9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748790" y="5202936"/>
            <a:ext cx="129159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1794510" y="5239512"/>
            <a:ext cx="120015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>emg_trap_std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040380" y="5202936"/>
            <a:ext cx="129159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3086100" y="5239512"/>
            <a:ext cx="120015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>0.008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331970" y="5202936"/>
            <a:ext cx="129159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4377690" y="5239512"/>
            <a:ext cx="120015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>Trapezius variability — shoulder tension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57200" y="5550408"/>
            <a:ext cx="1291590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502920" y="5586984"/>
            <a:ext cx="120015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>12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748790" y="5550408"/>
            <a:ext cx="1291590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1794510" y="5586984"/>
            <a:ext cx="120015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>hrv_meannn</a:t>
            </a:r>
          </a:p>
        </p:txBody>
      </p:sp>
      <p:sp>
        <p:nvSpPr>
          <p:cNvPr id="81" name="Rectangle 80"/>
          <p:cNvSpPr/>
          <p:nvPr/>
        </p:nvSpPr>
        <p:spPr>
          <a:xfrm>
            <a:off x="3040380" y="5550408"/>
            <a:ext cx="1291590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3086100" y="5586984"/>
            <a:ext cx="120015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>0.006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331970" y="5550408"/>
            <a:ext cx="1291590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4377690" y="5586984"/>
            <a:ext cx="120015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>Mean R-R interval — cardiac autonomic modulation</a:t>
            </a:r>
          </a:p>
        </p:txBody>
      </p:sp>
      <p:sp>
        <p:nvSpPr>
          <p:cNvPr id="85" name="Rectangle 84"/>
          <p:cNvSpPr/>
          <p:nvPr/>
        </p:nvSpPr>
        <p:spPr>
          <a:xfrm>
            <a:off x="457200" y="5769864"/>
            <a:ext cx="5166360" cy="566928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594360" y="5833872"/>
            <a:ext cx="48920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GSR dominates — skin conductance is the most sensitive autonomic pain marker. Rate of rise (slope) matters more than absolute level.</a:t>
            </a:r>
          </a:p>
        </p:txBody>
      </p:sp>
      <p:sp>
        <p:nvSpPr>
          <p:cNvPr id="87" name="Rectangle 86"/>
          <p:cNvSpPr/>
          <p:nvPr/>
        </p:nvSpPr>
        <p:spPr>
          <a:xfrm>
            <a:off x="5943600" y="2295144"/>
            <a:ext cx="5897880" cy="4187952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Rectangle 87"/>
          <p:cNvSpPr/>
          <p:nvPr/>
        </p:nvSpPr>
        <p:spPr>
          <a:xfrm>
            <a:off x="6080760" y="2432304"/>
            <a:ext cx="73152" cy="292608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6217920" y="2432304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878A"/>
                </a:solidFill>
                <a:latin typeface="Calibri"/>
              </a:rPr>
              <a:t>TOP LANDMARK FEATURES (by SHAP)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080760" y="2770632"/>
            <a:ext cx="1405890" cy="347472"/>
          </a:xfrm>
          <a:prstGeom prst="rect">
            <a:avLst/>
          </a:prstGeom>
          <a:solidFill>
            <a:srgbClr val="D6F0F0"/>
          </a:solidFill>
          <a:ln w="9525">
            <a:solidFill>
              <a:srgbClr val="0087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6126480" y="2807208"/>
            <a:ext cx="131445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2B55"/>
                </a:solidFill>
                <a:latin typeface="Calibri"/>
              </a:rPr>
              <a:t>Rank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486650" y="2770632"/>
            <a:ext cx="1405890" cy="347472"/>
          </a:xfrm>
          <a:prstGeom prst="rect">
            <a:avLst/>
          </a:prstGeom>
          <a:solidFill>
            <a:srgbClr val="D6F0F0"/>
          </a:solidFill>
          <a:ln w="9525">
            <a:solidFill>
              <a:srgbClr val="0087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7532370" y="2807208"/>
            <a:ext cx="131445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2B55"/>
                </a:solidFill>
                <a:latin typeface="Calibri"/>
              </a:rPr>
              <a:t>Feature</a:t>
            </a:r>
          </a:p>
        </p:txBody>
      </p:sp>
      <p:sp>
        <p:nvSpPr>
          <p:cNvPr id="94" name="Rectangle 93"/>
          <p:cNvSpPr/>
          <p:nvPr/>
        </p:nvSpPr>
        <p:spPr>
          <a:xfrm>
            <a:off x="8892540" y="2770632"/>
            <a:ext cx="1405890" cy="347472"/>
          </a:xfrm>
          <a:prstGeom prst="rect">
            <a:avLst/>
          </a:prstGeom>
          <a:solidFill>
            <a:srgbClr val="D6F0F0"/>
          </a:solidFill>
          <a:ln w="9525">
            <a:solidFill>
              <a:srgbClr val="0087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8938260" y="2807208"/>
            <a:ext cx="131445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2B55"/>
                </a:solidFill>
                <a:latin typeface="Calibri"/>
              </a:rPr>
              <a:t>SHAP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0298430" y="2770632"/>
            <a:ext cx="1405890" cy="347472"/>
          </a:xfrm>
          <a:prstGeom prst="rect">
            <a:avLst/>
          </a:prstGeom>
          <a:solidFill>
            <a:srgbClr val="D6F0F0"/>
          </a:solidFill>
          <a:ln w="9525">
            <a:solidFill>
              <a:srgbClr val="0087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10344150" y="2807208"/>
            <a:ext cx="131445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2B55"/>
                </a:solidFill>
                <a:latin typeface="Calibri"/>
              </a:rPr>
              <a:t>Clinical Meaning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080760" y="3118104"/>
            <a:ext cx="140589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6126480" y="3154680"/>
            <a:ext cx="131445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>1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7486650" y="3118104"/>
            <a:ext cx="140589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7532370" y="3154680"/>
            <a:ext cx="131445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>mouth_height_std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8892540" y="3118104"/>
            <a:ext cx="140589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8938260" y="3154680"/>
            <a:ext cx="131445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>0.029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0298430" y="3118104"/>
            <a:ext cx="140589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10344150" y="3154680"/>
            <a:ext cx="131445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>Lip parting variability across 5.5s window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080760" y="3465576"/>
            <a:ext cx="1405890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6126480" y="3502152"/>
            <a:ext cx="131445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>2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7486650" y="3465576"/>
            <a:ext cx="1405890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7532370" y="3502152"/>
            <a:ext cx="131445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>mouth_width_std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8892540" y="3465576"/>
            <a:ext cx="1405890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8938260" y="3502152"/>
            <a:ext cx="131445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>0.025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10298430" y="3465576"/>
            <a:ext cx="1405890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extBox 112"/>
          <p:cNvSpPr txBox="1"/>
          <p:nvPr/>
        </p:nvSpPr>
        <p:spPr>
          <a:xfrm>
            <a:off x="10344150" y="3502152"/>
            <a:ext cx="131445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>Lateral lip movement variability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6080760" y="3813048"/>
            <a:ext cx="140589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TextBox 114"/>
          <p:cNvSpPr txBox="1"/>
          <p:nvPr/>
        </p:nvSpPr>
        <p:spPr>
          <a:xfrm>
            <a:off x="6126480" y="3849624"/>
            <a:ext cx="131445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>3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7486650" y="3813048"/>
            <a:ext cx="140589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TextBox 116"/>
          <p:cNvSpPr txBox="1"/>
          <p:nvPr/>
        </p:nvSpPr>
        <p:spPr>
          <a:xfrm>
            <a:off x="7532370" y="3849624"/>
            <a:ext cx="131445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>nose_width_std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8892540" y="3813048"/>
            <a:ext cx="140589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TextBox 118"/>
          <p:cNvSpPr txBox="1"/>
          <p:nvPr/>
        </p:nvSpPr>
        <p:spPr>
          <a:xfrm>
            <a:off x="8938260" y="3849624"/>
            <a:ext cx="131445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>0.025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10298430" y="3813048"/>
            <a:ext cx="140589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TextBox 120"/>
          <p:cNvSpPr txBox="1"/>
          <p:nvPr/>
        </p:nvSpPr>
        <p:spPr>
          <a:xfrm>
            <a:off x="10344150" y="3849624"/>
            <a:ext cx="131445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>Nostril flaring variability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6080760" y="4160520"/>
            <a:ext cx="1405890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TextBox 122"/>
          <p:cNvSpPr txBox="1"/>
          <p:nvPr/>
        </p:nvSpPr>
        <p:spPr>
          <a:xfrm>
            <a:off x="6126480" y="4197096"/>
            <a:ext cx="131445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>4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7486650" y="4160520"/>
            <a:ext cx="1405890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TextBox 124"/>
          <p:cNvSpPr txBox="1"/>
          <p:nvPr/>
        </p:nvSpPr>
        <p:spPr>
          <a:xfrm>
            <a:off x="7532370" y="4197096"/>
            <a:ext cx="131445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>mouth_aspect_ratio_std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8892540" y="4160520"/>
            <a:ext cx="1405890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TextBox 126"/>
          <p:cNvSpPr txBox="1"/>
          <p:nvPr/>
        </p:nvSpPr>
        <p:spPr>
          <a:xfrm>
            <a:off x="8938260" y="4197096"/>
            <a:ext cx="131445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>0.016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10298430" y="4160520"/>
            <a:ext cx="1405890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TextBox 128"/>
          <p:cNvSpPr txBox="1"/>
          <p:nvPr/>
        </p:nvSpPr>
        <p:spPr>
          <a:xfrm>
            <a:off x="10344150" y="4197096"/>
            <a:ext cx="131445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>Overall mouth shape change dynamics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6080760" y="4507992"/>
            <a:ext cx="140589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TextBox 130"/>
          <p:cNvSpPr txBox="1"/>
          <p:nvPr/>
        </p:nvSpPr>
        <p:spPr>
          <a:xfrm>
            <a:off x="6126480" y="4544568"/>
            <a:ext cx="131445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>5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7486650" y="4507992"/>
            <a:ext cx="140589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TextBox 132"/>
          <p:cNvSpPr txBox="1"/>
          <p:nvPr/>
        </p:nvSpPr>
        <p:spPr>
          <a:xfrm>
            <a:off x="7532370" y="4544568"/>
            <a:ext cx="131445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>left_brow_eye_dist_std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8892540" y="4507992"/>
            <a:ext cx="140589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TextBox 134"/>
          <p:cNvSpPr txBox="1"/>
          <p:nvPr/>
        </p:nvSpPr>
        <p:spPr>
          <a:xfrm>
            <a:off x="8938260" y="4544568"/>
            <a:ext cx="131445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>0.013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10298430" y="4507992"/>
            <a:ext cx="140589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TextBox 136"/>
          <p:cNvSpPr txBox="1"/>
          <p:nvPr/>
        </p:nvSpPr>
        <p:spPr>
          <a:xfrm>
            <a:off x="10344150" y="4544568"/>
            <a:ext cx="131445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>Brow raise/lower variability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6080760" y="4855464"/>
            <a:ext cx="1405890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TextBox 138"/>
          <p:cNvSpPr txBox="1"/>
          <p:nvPr/>
        </p:nvSpPr>
        <p:spPr>
          <a:xfrm>
            <a:off x="6126480" y="4892040"/>
            <a:ext cx="131445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>6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7486650" y="4855464"/>
            <a:ext cx="1405890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1" name="TextBox 140"/>
          <p:cNvSpPr txBox="1"/>
          <p:nvPr/>
        </p:nvSpPr>
        <p:spPr>
          <a:xfrm>
            <a:off x="7532370" y="4892040"/>
            <a:ext cx="131445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>brow_eye_avg_std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8892540" y="4855464"/>
            <a:ext cx="1405890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TextBox 142"/>
          <p:cNvSpPr txBox="1"/>
          <p:nvPr/>
        </p:nvSpPr>
        <p:spPr>
          <a:xfrm>
            <a:off x="8938260" y="4892040"/>
            <a:ext cx="131445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>0.012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10298430" y="4855464"/>
            <a:ext cx="1405890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TextBox 144"/>
          <p:cNvSpPr txBox="1"/>
          <p:nvPr/>
        </p:nvSpPr>
        <p:spPr>
          <a:xfrm>
            <a:off x="10344150" y="4892040"/>
            <a:ext cx="131445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>Average brow position variability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6080760" y="5202936"/>
            <a:ext cx="140589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7" name="TextBox 146"/>
          <p:cNvSpPr txBox="1"/>
          <p:nvPr/>
        </p:nvSpPr>
        <p:spPr>
          <a:xfrm>
            <a:off x="6126480" y="5239512"/>
            <a:ext cx="131445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>7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7486650" y="5202936"/>
            <a:ext cx="140589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9" name="TextBox 148"/>
          <p:cNvSpPr txBox="1"/>
          <p:nvPr/>
        </p:nvSpPr>
        <p:spPr>
          <a:xfrm>
            <a:off x="7532370" y="5239512"/>
            <a:ext cx="131445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>avg_eye_openness_mean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8892540" y="5202936"/>
            <a:ext cx="140589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1" name="TextBox 150"/>
          <p:cNvSpPr txBox="1"/>
          <p:nvPr/>
        </p:nvSpPr>
        <p:spPr>
          <a:xfrm>
            <a:off x="8938260" y="5239512"/>
            <a:ext cx="131445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>0.009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10298430" y="5202936"/>
            <a:ext cx="140589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" name="TextBox 152"/>
          <p:cNvSpPr txBox="1"/>
          <p:nvPr/>
        </p:nvSpPr>
        <p:spPr>
          <a:xfrm>
            <a:off x="10344150" y="5239512"/>
            <a:ext cx="131445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>Mean eye opening — sustained expression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6080760" y="5550408"/>
            <a:ext cx="1405890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5" name="TextBox 154"/>
          <p:cNvSpPr txBox="1"/>
          <p:nvPr/>
        </p:nvSpPr>
        <p:spPr>
          <a:xfrm>
            <a:off x="6126480" y="5586984"/>
            <a:ext cx="131445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>8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7486650" y="5550408"/>
            <a:ext cx="1405890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7" name="TextBox 156"/>
          <p:cNvSpPr txBox="1"/>
          <p:nvPr/>
        </p:nvSpPr>
        <p:spPr>
          <a:xfrm>
            <a:off x="7532370" y="5586984"/>
            <a:ext cx="131445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>brow_furrow_std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8892540" y="5550408"/>
            <a:ext cx="1405890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9" name="TextBox 158"/>
          <p:cNvSpPr txBox="1"/>
          <p:nvPr/>
        </p:nvSpPr>
        <p:spPr>
          <a:xfrm>
            <a:off x="8938260" y="5586984"/>
            <a:ext cx="131445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>0.007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10298430" y="5550408"/>
            <a:ext cx="1405890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1" name="TextBox 160"/>
          <p:cNvSpPr txBox="1"/>
          <p:nvPr/>
        </p:nvSpPr>
        <p:spPr>
          <a:xfrm>
            <a:off x="10344150" y="5586984"/>
            <a:ext cx="131445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>Inter-brow distance variability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6080760" y="5769864"/>
            <a:ext cx="5623560" cy="56692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3" name="TextBox 162"/>
          <p:cNvSpPr txBox="1"/>
          <p:nvPr/>
        </p:nvSpPr>
        <p:spPr>
          <a:xfrm>
            <a:off x="6217920" y="5833872"/>
            <a:ext cx="5349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All top features are _std (variability). Pain expression is about facial DYNAMICS, not static geometry. Validates the stacked fusion design.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5" name="TextBox 164"/>
          <p:cNvSpPr txBox="1"/>
          <p:nvPr/>
        </p:nvSpPr>
        <p:spPr>
          <a:xfrm>
            <a:off x="274320" y="6611112"/>
            <a:ext cx="7315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BCC"/>
                </a:solidFill>
                <a:latin typeface="Calibri"/>
              </a:rPr>
              <a:t>EmPath v2  |  Komala Belur Srinivas  |  Hofstra University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11091672" y="6611112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11 / 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5743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SHAP Visualizations — Feature Impact on PA3 Prediction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54864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shap_biosignal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426464"/>
            <a:ext cx="5577840" cy="5029200"/>
          </a:xfrm>
          <a:prstGeom prst="rect">
            <a:avLst/>
          </a:prstGeom>
        </p:spPr>
      </p:pic>
      <p:pic>
        <p:nvPicPr>
          <p:cNvPr id="7" name="Picture 6" descr="shap_biosignal_beeswar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426464"/>
            <a:ext cx="5577840" cy="50292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4320" y="6611112"/>
            <a:ext cx="7315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BCC"/>
                </a:solidFill>
                <a:latin typeface="Calibri"/>
              </a:rPr>
              <a:t>EmPath v2  |  Komala Belur Srinivas  |  Hofstra University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1672" y="6611112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12 / 20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5743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Landmark SHAP &amp; Per-Subject Accuracy Breakdown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54864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shap_landmark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426464"/>
            <a:ext cx="5303520" cy="3200400"/>
          </a:xfrm>
          <a:prstGeom prst="rect">
            <a:avLst/>
          </a:prstGeom>
        </p:spPr>
      </p:pic>
      <p:pic>
        <p:nvPicPr>
          <p:cNvPr id="7" name="Picture 6" descr="per_subject_accurac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4718304"/>
            <a:ext cx="11868912" cy="27432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669280" y="1426464"/>
            <a:ext cx="617220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806440" y="1563624"/>
            <a:ext cx="73152" cy="292608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0" y="1563624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878A"/>
                </a:solidFill>
                <a:latin typeface="Calibri"/>
              </a:rPr>
              <a:t>PER-SUBJECT BREAKDOWN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06440" y="1929384"/>
            <a:ext cx="1005840" cy="4572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852160" y="1984248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≥ 80%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03720" y="1984248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7D32"/>
                </a:solidFill>
                <a:latin typeface="Calibri"/>
              </a:rPr>
              <a:t>14 subjects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2020824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Model generalizes — consistent physiology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06440" y="2496312"/>
            <a:ext cx="1005840" cy="457200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852160" y="2551176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65–80%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03720" y="2551176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878A"/>
                </a:solidFill>
                <a:latin typeface="Calibri"/>
              </a:rPr>
              <a:t>23 subjects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258775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Above chance, reliable predictions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806440" y="3063240"/>
            <a:ext cx="1005840" cy="4572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852160" y="3118104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50–65%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03720" y="3118104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86B1A"/>
                </a:solidFill>
                <a:latin typeface="Calibri"/>
              </a:rPr>
              <a:t>23 subjects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0" y="31546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Near chance, minimal separable signal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806440" y="3630168"/>
            <a:ext cx="1005840" cy="4572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852160" y="3685032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&lt; 50%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03720" y="3685032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62828"/>
                </a:solidFill>
                <a:latin typeface="Calibri"/>
              </a:rPr>
              <a:t>7 subjects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0" y="372160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Below chance — atypical response patterns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806440" y="4334256"/>
            <a:ext cx="5943600" cy="10058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943600" y="4398264"/>
            <a:ext cx="566928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The bimodal distribution (strong right cluster vs weak left) reveals SUBJECT HETEROGENEITY — not model failure. Some people's PA2 and PA3 are physiologically indistinguishable even to human experts. This is a biological constraint.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74320" y="6611112"/>
            <a:ext cx="7315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BCC"/>
                </a:solidFill>
                <a:latin typeface="Calibri"/>
              </a:rPr>
              <a:t>EmPath v2  |  Komala Belur Srinivas  |  Hofstra University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91672" y="6611112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13 / 20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5743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Confusion Matrix &amp; Combined Feature Importance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54864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72184"/>
            <a:ext cx="4754880" cy="3931920"/>
          </a:xfrm>
          <a:prstGeom prst="rect">
            <a:avLst/>
          </a:prstGeom>
        </p:spPr>
      </p:pic>
      <p:pic>
        <p:nvPicPr>
          <p:cNvPr id="7" name="Picture 6" descr="feature_importance_combin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0" y="1472184"/>
            <a:ext cx="6583680" cy="39319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274320" y="5495544"/>
            <a:ext cx="44805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87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80" y="5559552"/>
            <a:ext cx="425196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Balanced errors: 456 PA2→PA3 vs 470 PA3→PA2.
Model not biased toward either class — struggling equally in both directions, as expected with only ~1°C thermal separation.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5495544"/>
            <a:ext cx="68580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166360" y="5559552"/>
            <a:ext cx="658368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gsr_slope dominates (0.11). Landmark _std features occupy 4 of top 6 positions (mouth_width_std, mouth_aspect_ratio_std, mouth_height_std). Both modalities contribute non-redundantly — validates the stacked fusion design.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74320" y="6611112"/>
            <a:ext cx="7315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BCC"/>
                </a:solidFill>
                <a:latin typeface="Calibri"/>
              </a:rPr>
              <a:t>EmPath v2  |  Komala Belur Srinivas  |  Hofstra University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91672" y="6611112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14 / 20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5743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Why No Novel Method Beat the Baseline — Honest Scientific Finding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54864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20040" y="1472184"/>
            <a:ext cx="11548872" cy="5943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563624"/>
            <a:ext cx="111831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The RF stacked fusion is the empirical ceiling for N=67 subjects. This is not architectural failure — it is sample size.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2249424"/>
            <a:ext cx="1371600" cy="82296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2340864"/>
            <a:ext cx="12801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GNN</a:t>
            </a:r>
          </a:p>
        </p:txBody>
      </p:sp>
      <p:sp>
        <p:nvSpPr>
          <p:cNvPr id="10" name="Rectangle 9"/>
          <p:cNvSpPr/>
          <p:nvPr/>
        </p:nvSpPr>
        <p:spPr>
          <a:xfrm>
            <a:off x="1719072" y="2249424"/>
            <a:ext cx="1737360" cy="822960"/>
          </a:xfrm>
          <a:prstGeom prst="rect">
            <a:avLst/>
          </a:prstGeom>
          <a:solidFill>
            <a:srgbClr val="D6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764792" y="2386584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D2B55"/>
                </a:solidFill>
                <a:latin typeface="Calibri"/>
              </a:rPr>
              <a:t>51.7% ± 9.8%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47872" y="2249424"/>
            <a:ext cx="8330184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85032" y="2340864"/>
            <a:ext cx="80741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Graph topology learning requires many examples per edge pattern. 67 subjects = too few to learn spatial representations from scratch.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3163824"/>
            <a:ext cx="1371600" cy="82296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5760" y="3255264"/>
            <a:ext cx="12801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DANN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719072" y="3163824"/>
            <a:ext cx="1737360" cy="822960"/>
          </a:xfrm>
          <a:prstGeom prst="rect">
            <a:avLst/>
          </a:prstGeom>
          <a:solidFill>
            <a:srgbClr val="D6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764792" y="3300984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D2B55"/>
                </a:solidFill>
                <a:latin typeface="Calibri"/>
              </a:rPr>
              <a:t>61.6% ± 10.3%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547872" y="3163824"/>
            <a:ext cx="8330184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685032" y="3255264"/>
            <a:ext cx="80741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Adversarial training reduces std by 3.8% but cannot increase mean accuracy — subject heterogeneity is biological, not a learnable domain.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4078224"/>
            <a:ext cx="1371600" cy="82296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65760" y="4169664"/>
            <a:ext cx="12801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CrossMod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719072" y="4078224"/>
            <a:ext cx="1737360" cy="822960"/>
          </a:xfrm>
          <a:prstGeom prst="rect">
            <a:avLst/>
          </a:prstGeom>
          <a:solidFill>
            <a:srgbClr val="D6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764792" y="4215384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D2B55"/>
                </a:solidFill>
                <a:latin typeface="Calibri"/>
              </a:rPr>
              <a:t>63.1% ± 11.1%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547872" y="4078224"/>
            <a:ext cx="8330184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685032" y="4169664"/>
            <a:ext cx="80741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Learned cross-modal attention cannot outperform calibrated RF probabilities when training set = 66 subjects per fold.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4992624"/>
            <a:ext cx="1371600" cy="82296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65760" y="5084064"/>
            <a:ext cx="12801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Velocity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719072" y="4992624"/>
            <a:ext cx="1737360" cy="822960"/>
          </a:xfrm>
          <a:prstGeom prst="rect">
            <a:avLst/>
          </a:prstGeom>
          <a:solidFill>
            <a:srgbClr val="D6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764792" y="5129784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D2B55"/>
                </a:solidFill>
                <a:latin typeface="Calibri"/>
              </a:rPr>
              <a:t>60.0% ± 11.9%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547872" y="4992624"/>
            <a:ext cx="8330184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685032" y="5084064"/>
            <a:ext cx="80741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PA3 is a HELD expression, not a fast movement. Dynamic motion features carry less signal than sustained geometric variability.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5998464"/>
            <a:ext cx="11548872" cy="384048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02920" y="6044184"/>
            <a:ext cx="112745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WHAT THE NOVEL METHODS DID ACHIEVE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0040" y="6409944"/>
            <a:ext cx="1154887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0087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02920" y="6464808"/>
            <a:ext cx="1127455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▸ Consistently lower standard deviation (±10–12% vs ±14.1%) — more reliable, consistent predictions across subjects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▸ Confirmed domain adaptation reduces subject-identity leakage  |  Confirmed velocity &lt; static variability (biological insight)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▸ Demonstrated that cross-modal attention matches but cannot surpass RF at this scale — directionally correct, scale-limited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274320" y="6611112"/>
            <a:ext cx="7315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BCC"/>
                </a:solidFill>
                <a:latin typeface="Calibri"/>
              </a:rPr>
              <a:t>EmPath v2  |  Komala Belur Srinivas  |  Hofstra University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91672" y="6611112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15 / 20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5743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Complete Results Summary — All Novel Contributions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54864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20040" y="1472184"/>
            <a:ext cx="2309774" cy="347472"/>
          </a:xfrm>
          <a:prstGeom prst="rect">
            <a:avLst/>
          </a:prstGeom>
          <a:solidFill>
            <a:srgbClr val="D6F0F0"/>
          </a:solidFill>
          <a:ln w="9525">
            <a:solidFill>
              <a:srgbClr val="0087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1508760"/>
            <a:ext cx="221833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2B55"/>
                </a:solidFill>
                <a:latin typeface="Calibri"/>
              </a:rPr>
              <a:t>Model</a:t>
            </a:r>
          </a:p>
        </p:txBody>
      </p:sp>
      <p:sp>
        <p:nvSpPr>
          <p:cNvPr id="8" name="Rectangle 7"/>
          <p:cNvSpPr/>
          <p:nvPr/>
        </p:nvSpPr>
        <p:spPr>
          <a:xfrm>
            <a:off x="2629814" y="1472184"/>
            <a:ext cx="2309774" cy="347472"/>
          </a:xfrm>
          <a:prstGeom prst="rect">
            <a:avLst/>
          </a:prstGeom>
          <a:solidFill>
            <a:srgbClr val="D6F0F0"/>
          </a:solidFill>
          <a:ln w="9525">
            <a:solidFill>
              <a:srgbClr val="0087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675534" y="1508760"/>
            <a:ext cx="221833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2B55"/>
                </a:solidFill>
                <a:latin typeface="Calibri"/>
              </a:rPr>
              <a:t>Protocol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39588" y="1472184"/>
            <a:ext cx="2309774" cy="347472"/>
          </a:xfrm>
          <a:prstGeom prst="rect">
            <a:avLst/>
          </a:prstGeom>
          <a:solidFill>
            <a:srgbClr val="D6F0F0"/>
          </a:solidFill>
          <a:ln w="9525">
            <a:solidFill>
              <a:srgbClr val="0087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985308" y="1508760"/>
            <a:ext cx="221833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2B55"/>
                </a:solidFill>
                <a:latin typeface="Calibri"/>
              </a:rPr>
              <a:t>Accuracy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49362" y="1472184"/>
            <a:ext cx="2309774" cy="347472"/>
          </a:xfrm>
          <a:prstGeom prst="rect">
            <a:avLst/>
          </a:prstGeom>
          <a:solidFill>
            <a:srgbClr val="D6F0F0"/>
          </a:solidFill>
          <a:ln w="9525">
            <a:solidFill>
              <a:srgbClr val="0087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295082" y="1508760"/>
            <a:ext cx="221833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2B55"/>
                </a:solidFill>
                <a:latin typeface="Calibri"/>
              </a:rPr>
              <a:t>Std Dev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559136" y="1472184"/>
            <a:ext cx="2309774" cy="347472"/>
          </a:xfrm>
          <a:prstGeom prst="rect">
            <a:avLst/>
          </a:prstGeom>
          <a:solidFill>
            <a:srgbClr val="D6F0F0"/>
          </a:solidFill>
          <a:ln w="9525">
            <a:solidFill>
              <a:srgbClr val="0087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604856" y="1508760"/>
            <a:ext cx="221833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2B55"/>
                </a:solidFill>
                <a:latin typeface="Calibri"/>
              </a:rPr>
              <a:t>Type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1819656"/>
            <a:ext cx="2309774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65760" y="1856232"/>
            <a:ext cx="221833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Calibri"/>
              </a:rPr>
              <a:t>Biosignal RF (baseline)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629814" y="1819656"/>
            <a:ext cx="2309774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675534" y="1856232"/>
            <a:ext cx="221833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Calibri"/>
              </a:rPr>
              <a:t>LOSO-67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939588" y="1819656"/>
            <a:ext cx="2309774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985308" y="1856232"/>
            <a:ext cx="221833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Calibri"/>
              </a:rPr>
              <a:t>63.1%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49362" y="1819656"/>
            <a:ext cx="2309774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295082" y="1856232"/>
            <a:ext cx="221833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Calibri"/>
              </a:rPr>
              <a:t>±11.6%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559136" y="1819656"/>
            <a:ext cx="2309774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604856" y="1856232"/>
            <a:ext cx="221833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2167128"/>
            <a:ext cx="2309774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65760" y="2203704"/>
            <a:ext cx="221833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Calibri"/>
              </a:rPr>
              <a:t>Landmark RF flat (baseline)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629814" y="2167128"/>
            <a:ext cx="2309774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675534" y="2203704"/>
            <a:ext cx="221833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Calibri"/>
              </a:rPr>
              <a:t>LOSO-67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939588" y="2167128"/>
            <a:ext cx="2309774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985308" y="2203704"/>
            <a:ext cx="221833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Calibri"/>
              </a:rPr>
              <a:t>61.4%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249362" y="2167128"/>
            <a:ext cx="2309774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295082" y="2203704"/>
            <a:ext cx="221833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Calibri"/>
              </a:rPr>
              <a:t>±13.1%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559136" y="2167128"/>
            <a:ext cx="2309774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604856" y="2203704"/>
            <a:ext cx="221833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" y="2514600"/>
            <a:ext cx="2309774" cy="347472"/>
          </a:xfrm>
          <a:prstGeom prst="rect">
            <a:avLst/>
          </a:prstGeom>
          <a:solidFill>
            <a:srgbClr val="E86B1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65760" y="2551176"/>
            <a:ext cx="221833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Calibri"/>
              </a:rPr>
              <a:t>Stacked Fusion ★ (baseline)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629814" y="2514600"/>
            <a:ext cx="2309774" cy="347472"/>
          </a:xfrm>
          <a:prstGeom prst="rect">
            <a:avLst/>
          </a:prstGeom>
          <a:solidFill>
            <a:srgbClr val="E86B1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2675534" y="2551176"/>
            <a:ext cx="221833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Calibri"/>
              </a:rPr>
              <a:t>LOSO-67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939588" y="2514600"/>
            <a:ext cx="2309774" cy="347472"/>
          </a:xfrm>
          <a:prstGeom prst="rect">
            <a:avLst/>
          </a:prstGeom>
          <a:solidFill>
            <a:srgbClr val="E86B1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985308" y="2551176"/>
            <a:ext cx="221833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Calibri"/>
              </a:rPr>
              <a:t>65.3%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249362" y="2514600"/>
            <a:ext cx="2309774" cy="347472"/>
          </a:xfrm>
          <a:prstGeom prst="rect">
            <a:avLst/>
          </a:prstGeom>
          <a:solidFill>
            <a:srgbClr val="E86B1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295082" y="2551176"/>
            <a:ext cx="221833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Calibri"/>
              </a:rPr>
              <a:t>±14.1%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559136" y="2514600"/>
            <a:ext cx="2309774" cy="347472"/>
          </a:xfrm>
          <a:prstGeom prst="rect">
            <a:avLst/>
          </a:prstGeom>
          <a:solidFill>
            <a:srgbClr val="E86B1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604856" y="2551176"/>
            <a:ext cx="221833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Calibri"/>
              </a:rPr>
              <a:t>Baseline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20040" y="2862072"/>
            <a:ext cx="2309774" cy="347472"/>
          </a:xfrm>
          <a:prstGeom prst="rect">
            <a:avLst/>
          </a:prstGeom>
          <a:solidFill>
            <a:srgbClr val="D6F0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365760" y="2898648"/>
            <a:ext cx="221833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Calibri"/>
              </a:rPr>
              <a:t>GNN landmarks only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629814" y="2862072"/>
            <a:ext cx="2309774" cy="347472"/>
          </a:xfrm>
          <a:prstGeom prst="rect">
            <a:avLst/>
          </a:prstGeom>
          <a:solidFill>
            <a:srgbClr val="D6F0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2675534" y="2898648"/>
            <a:ext cx="221833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Calibri"/>
              </a:rPr>
              <a:t>LOSO-67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939588" y="2862072"/>
            <a:ext cx="2309774" cy="347472"/>
          </a:xfrm>
          <a:prstGeom prst="rect">
            <a:avLst/>
          </a:prstGeom>
          <a:solidFill>
            <a:srgbClr val="D6F0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4985308" y="2898648"/>
            <a:ext cx="221833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Calibri"/>
              </a:rPr>
              <a:t>51.7%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249362" y="2862072"/>
            <a:ext cx="2309774" cy="347472"/>
          </a:xfrm>
          <a:prstGeom prst="rect">
            <a:avLst/>
          </a:prstGeom>
          <a:solidFill>
            <a:srgbClr val="D6F0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7295082" y="2898648"/>
            <a:ext cx="221833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Calibri"/>
              </a:rPr>
              <a:t>±9.8%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559136" y="2862072"/>
            <a:ext cx="2309774" cy="347472"/>
          </a:xfrm>
          <a:prstGeom prst="rect">
            <a:avLst/>
          </a:prstGeom>
          <a:solidFill>
            <a:srgbClr val="D6F0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9604856" y="2898648"/>
            <a:ext cx="221833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Calibri"/>
              </a:rPr>
              <a:t>Novel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20040" y="3209544"/>
            <a:ext cx="2309774" cy="347472"/>
          </a:xfrm>
          <a:prstGeom prst="rect">
            <a:avLst/>
          </a:prstGeom>
          <a:solidFill>
            <a:srgbClr val="D6F0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365760" y="3246120"/>
            <a:ext cx="221833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Calibri"/>
              </a:rPr>
              <a:t>GNN + RF biosignal stacked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629814" y="3209544"/>
            <a:ext cx="2309774" cy="347472"/>
          </a:xfrm>
          <a:prstGeom prst="rect">
            <a:avLst/>
          </a:prstGeom>
          <a:solidFill>
            <a:srgbClr val="D6F0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2675534" y="3246120"/>
            <a:ext cx="221833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Calibri"/>
              </a:rPr>
              <a:t>LOSO-67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939588" y="3209544"/>
            <a:ext cx="2309774" cy="347472"/>
          </a:xfrm>
          <a:prstGeom prst="rect">
            <a:avLst/>
          </a:prstGeom>
          <a:solidFill>
            <a:srgbClr val="D6F0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4985308" y="3246120"/>
            <a:ext cx="221833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Calibri"/>
              </a:rPr>
              <a:t>63.1%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249362" y="3209544"/>
            <a:ext cx="2309774" cy="347472"/>
          </a:xfrm>
          <a:prstGeom prst="rect">
            <a:avLst/>
          </a:prstGeom>
          <a:solidFill>
            <a:srgbClr val="D6F0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7295082" y="3246120"/>
            <a:ext cx="221833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Calibri"/>
              </a:rPr>
              <a:t>±11.9%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559136" y="3209544"/>
            <a:ext cx="2309774" cy="347472"/>
          </a:xfrm>
          <a:prstGeom prst="rect">
            <a:avLst/>
          </a:prstGeom>
          <a:solidFill>
            <a:srgbClr val="D6F0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9604856" y="3246120"/>
            <a:ext cx="221833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Calibri"/>
              </a:rPr>
              <a:t>Novel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20040" y="3557016"/>
            <a:ext cx="2309774" cy="347472"/>
          </a:xfrm>
          <a:prstGeom prst="rect">
            <a:avLst/>
          </a:prstGeom>
          <a:solidFill>
            <a:srgbClr val="E8F5E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365760" y="3593592"/>
            <a:ext cx="221833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Calibri"/>
              </a:rPr>
              <a:t>DANN biosignal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629814" y="3557016"/>
            <a:ext cx="2309774" cy="347472"/>
          </a:xfrm>
          <a:prstGeom prst="rect">
            <a:avLst/>
          </a:prstGeom>
          <a:solidFill>
            <a:srgbClr val="E8F5E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2675534" y="3593592"/>
            <a:ext cx="221833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Calibri"/>
              </a:rPr>
              <a:t>LOSO-67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939588" y="3557016"/>
            <a:ext cx="2309774" cy="347472"/>
          </a:xfrm>
          <a:prstGeom prst="rect">
            <a:avLst/>
          </a:prstGeom>
          <a:solidFill>
            <a:srgbClr val="E8F5E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4985308" y="3593592"/>
            <a:ext cx="221833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Calibri"/>
              </a:rPr>
              <a:t>61.6%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249362" y="3557016"/>
            <a:ext cx="2309774" cy="347472"/>
          </a:xfrm>
          <a:prstGeom prst="rect">
            <a:avLst/>
          </a:prstGeom>
          <a:solidFill>
            <a:srgbClr val="E8F5E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7295082" y="3593592"/>
            <a:ext cx="221833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Calibri"/>
              </a:rPr>
              <a:t>±10.3%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559136" y="3557016"/>
            <a:ext cx="2309774" cy="347472"/>
          </a:xfrm>
          <a:prstGeom prst="rect">
            <a:avLst/>
          </a:prstGeom>
          <a:solidFill>
            <a:srgbClr val="E8F5E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9604856" y="3593592"/>
            <a:ext cx="221833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Calibri"/>
              </a:rPr>
              <a:t>Novel ↓std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20040" y="3904488"/>
            <a:ext cx="2309774" cy="347472"/>
          </a:xfrm>
          <a:prstGeom prst="rect">
            <a:avLst/>
          </a:prstGeom>
          <a:solidFill>
            <a:srgbClr val="E8F5E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365760" y="3941064"/>
            <a:ext cx="221833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Calibri"/>
              </a:rPr>
              <a:t>DANN + RF landmarks stacked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629814" y="3904488"/>
            <a:ext cx="2309774" cy="347472"/>
          </a:xfrm>
          <a:prstGeom prst="rect">
            <a:avLst/>
          </a:prstGeom>
          <a:solidFill>
            <a:srgbClr val="E8F5E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2675534" y="3941064"/>
            <a:ext cx="221833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Calibri"/>
              </a:rPr>
              <a:t>LOSO-67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939588" y="3904488"/>
            <a:ext cx="2309774" cy="347472"/>
          </a:xfrm>
          <a:prstGeom prst="rect">
            <a:avLst/>
          </a:prstGeom>
          <a:solidFill>
            <a:srgbClr val="E8F5E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4985308" y="3941064"/>
            <a:ext cx="221833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Calibri"/>
              </a:rPr>
              <a:t>64.7%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249362" y="3904488"/>
            <a:ext cx="2309774" cy="347472"/>
          </a:xfrm>
          <a:prstGeom prst="rect">
            <a:avLst/>
          </a:prstGeom>
          <a:solidFill>
            <a:srgbClr val="E8F5E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7295082" y="3941064"/>
            <a:ext cx="221833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Calibri"/>
              </a:rPr>
              <a:t>±11.8%</a:t>
            </a:r>
          </a:p>
        </p:txBody>
      </p:sp>
      <p:sp>
        <p:nvSpPr>
          <p:cNvPr id="84" name="Rectangle 83"/>
          <p:cNvSpPr/>
          <p:nvPr/>
        </p:nvSpPr>
        <p:spPr>
          <a:xfrm>
            <a:off x="9559136" y="3904488"/>
            <a:ext cx="2309774" cy="347472"/>
          </a:xfrm>
          <a:prstGeom prst="rect">
            <a:avLst/>
          </a:prstGeom>
          <a:solidFill>
            <a:srgbClr val="E8F5E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9604856" y="3941064"/>
            <a:ext cx="221833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Calibri"/>
              </a:rPr>
              <a:t>Novel ↓std</a:t>
            </a:r>
          </a:p>
        </p:txBody>
      </p:sp>
      <p:sp>
        <p:nvSpPr>
          <p:cNvPr id="86" name="Rectangle 85"/>
          <p:cNvSpPr/>
          <p:nvPr/>
        </p:nvSpPr>
        <p:spPr>
          <a:xfrm>
            <a:off x="320040" y="4251960"/>
            <a:ext cx="2309774" cy="347472"/>
          </a:xfrm>
          <a:prstGeom prst="rect">
            <a:avLst/>
          </a:prstGeom>
          <a:solidFill>
            <a:srgbClr val="E3F2FD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365760" y="4288536"/>
            <a:ext cx="221833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Calibri"/>
              </a:rPr>
              <a:t>CrossMod cross-attention</a:t>
            </a:r>
          </a:p>
        </p:txBody>
      </p:sp>
      <p:sp>
        <p:nvSpPr>
          <p:cNvPr id="88" name="Rectangle 87"/>
          <p:cNvSpPr/>
          <p:nvPr/>
        </p:nvSpPr>
        <p:spPr>
          <a:xfrm>
            <a:off x="2629814" y="4251960"/>
            <a:ext cx="2309774" cy="347472"/>
          </a:xfrm>
          <a:prstGeom prst="rect">
            <a:avLst/>
          </a:prstGeom>
          <a:solidFill>
            <a:srgbClr val="E3F2FD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2675534" y="4288536"/>
            <a:ext cx="221833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Calibri"/>
              </a:rPr>
              <a:t>LOSO-67</a:t>
            </a:r>
          </a:p>
        </p:txBody>
      </p:sp>
      <p:sp>
        <p:nvSpPr>
          <p:cNvPr id="90" name="Rectangle 89"/>
          <p:cNvSpPr/>
          <p:nvPr/>
        </p:nvSpPr>
        <p:spPr>
          <a:xfrm>
            <a:off x="4939588" y="4251960"/>
            <a:ext cx="2309774" cy="347472"/>
          </a:xfrm>
          <a:prstGeom prst="rect">
            <a:avLst/>
          </a:prstGeom>
          <a:solidFill>
            <a:srgbClr val="E3F2FD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4985308" y="4288536"/>
            <a:ext cx="221833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Calibri"/>
              </a:rPr>
              <a:t>63.1%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249362" y="4251960"/>
            <a:ext cx="2309774" cy="347472"/>
          </a:xfrm>
          <a:prstGeom prst="rect">
            <a:avLst/>
          </a:prstGeom>
          <a:solidFill>
            <a:srgbClr val="E3F2FD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7295082" y="4288536"/>
            <a:ext cx="221833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Calibri"/>
              </a:rPr>
              <a:t>±11.1%</a:t>
            </a:r>
          </a:p>
        </p:txBody>
      </p:sp>
      <p:sp>
        <p:nvSpPr>
          <p:cNvPr id="94" name="Rectangle 93"/>
          <p:cNvSpPr/>
          <p:nvPr/>
        </p:nvSpPr>
        <p:spPr>
          <a:xfrm>
            <a:off x="9559136" y="4251960"/>
            <a:ext cx="2309774" cy="347472"/>
          </a:xfrm>
          <a:prstGeom prst="rect">
            <a:avLst/>
          </a:prstGeom>
          <a:solidFill>
            <a:srgbClr val="E3F2FD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9604856" y="4288536"/>
            <a:ext cx="221833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Calibri"/>
              </a:rPr>
              <a:t>Novel ↓std</a:t>
            </a:r>
          </a:p>
        </p:txBody>
      </p:sp>
      <p:sp>
        <p:nvSpPr>
          <p:cNvPr id="96" name="Rectangle 95"/>
          <p:cNvSpPr/>
          <p:nvPr/>
        </p:nvSpPr>
        <p:spPr>
          <a:xfrm>
            <a:off x="320040" y="4599432"/>
            <a:ext cx="2309774" cy="347472"/>
          </a:xfrm>
          <a:prstGeom prst="rect">
            <a:avLst/>
          </a:prstGeom>
          <a:solidFill>
            <a:srgbClr val="D6F0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365760" y="4636008"/>
            <a:ext cx="221833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Calibri"/>
              </a:rPr>
              <a:t>Velocity RF only</a:t>
            </a:r>
          </a:p>
        </p:txBody>
      </p:sp>
      <p:sp>
        <p:nvSpPr>
          <p:cNvPr id="98" name="Rectangle 97"/>
          <p:cNvSpPr/>
          <p:nvPr/>
        </p:nvSpPr>
        <p:spPr>
          <a:xfrm>
            <a:off x="2629814" y="4599432"/>
            <a:ext cx="2309774" cy="347472"/>
          </a:xfrm>
          <a:prstGeom prst="rect">
            <a:avLst/>
          </a:prstGeom>
          <a:solidFill>
            <a:srgbClr val="D6F0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2675534" y="4636008"/>
            <a:ext cx="221833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Calibri"/>
              </a:rPr>
              <a:t>LOSO-67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939588" y="4599432"/>
            <a:ext cx="2309774" cy="347472"/>
          </a:xfrm>
          <a:prstGeom prst="rect">
            <a:avLst/>
          </a:prstGeom>
          <a:solidFill>
            <a:srgbClr val="D6F0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4985308" y="4636008"/>
            <a:ext cx="221833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Calibri"/>
              </a:rPr>
              <a:t>60.0%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7249362" y="4599432"/>
            <a:ext cx="2309774" cy="347472"/>
          </a:xfrm>
          <a:prstGeom prst="rect">
            <a:avLst/>
          </a:prstGeom>
          <a:solidFill>
            <a:srgbClr val="D6F0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7295082" y="4636008"/>
            <a:ext cx="221833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Calibri"/>
              </a:rPr>
              <a:t>±11.9%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9559136" y="4599432"/>
            <a:ext cx="2309774" cy="347472"/>
          </a:xfrm>
          <a:prstGeom prst="rect">
            <a:avLst/>
          </a:prstGeom>
          <a:solidFill>
            <a:srgbClr val="D6F0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9604856" y="4636008"/>
            <a:ext cx="221833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Calibri"/>
              </a:rPr>
              <a:t>Novel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320040" y="4946904"/>
            <a:ext cx="2309774" cy="347472"/>
          </a:xfrm>
          <a:prstGeom prst="rect">
            <a:avLst/>
          </a:prstGeom>
          <a:solidFill>
            <a:srgbClr val="D6F0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365760" y="4983480"/>
            <a:ext cx="221833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Calibri"/>
              </a:rPr>
              <a:t>Velocity + biosignal stacked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2629814" y="4946904"/>
            <a:ext cx="2309774" cy="347472"/>
          </a:xfrm>
          <a:prstGeom prst="rect">
            <a:avLst/>
          </a:prstGeom>
          <a:solidFill>
            <a:srgbClr val="D6F0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2675534" y="4983480"/>
            <a:ext cx="221833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Calibri"/>
              </a:rPr>
              <a:t>LOSO-67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939588" y="4946904"/>
            <a:ext cx="2309774" cy="347472"/>
          </a:xfrm>
          <a:prstGeom prst="rect">
            <a:avLst/>
          </a:prstGeom>
          <a:solidFill>
            <a:srgbClr val="D6F0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4985308" y="4983480"/>
            <a:ext cx="221833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Calibri"/>
              </a:rPr>
              <a:t>64.0%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7249362" y="4946904"/>
            <a:ext cx="2309774" cy="347472"/>
          </a:xfrm>
          <a:prstGeom prst="rect">
            <a:avLst/>
          </a:prstGeom>
          <a:solidFill>
            <a:srgbClr val="D6F0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extBox 112"/>
          <p:cNvSpPr txBox="1"/>
          <p:nvPr/>
        </p:nvSpPr>
        <p:spPr>
          <a:xfrm>
            <a:off x="7295082" y="4983480"/>
            <a:ext cx="221833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Calibri"/>
              </a:rPr>
              <a:t>±12.7%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9559136" y="4946904"/>
            <a:ext cx="2309774" cy="347472"/>
          </a:xfrm>
          <a:prstGeom prst="rect">
            <a:avLst/>
          </a:prstGeom>
          <a:solidFill>
            <a:srgbClr val="D6F0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TextBox 114"/>
          <p:cNvSpPr txBox="1"/>
          <p:nvPr/>
        </p:nvSpPr>
        <p:spPr>
          <a:xfrm>
            <a:off x="9604856" y="4983480"/>
            <a:ext cx="221833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Calibri"/>
              </a:rPr>
              <a:t>Novel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TextBox 116"/>
          <p:cNvSpPr txBox="1"/>
          <p:nvPr/>
        </p:nvSpPr>
        <p:spPr>
          <a:xfrm>
            <a:off x="274320" y="6611112"/>
            <a:ext cx="7315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BCC"/>
                </a:solidFill>
                <a:latin typeface="Calibri"/>
              </a:rPr>
              <a:t>EmPath v2  |  Komala Belur Srinivas  |  Hofstra University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11091672" y="6611112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16 / 20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5743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Literature Comparison &amp; Honest Gap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54864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20040" y="1517904"/>
            <a:ext cx="2309774" cy="347472"/>
          </a:xfrm>
          <a:prstGeom prst="rect">
            <a:avLst/>
          </a:prstGeom>
          <a:solidFill>
            <a:srgbClr val="D6F0F0"/>
          </a:solidFill>
          <a:ln w="9525">
            <a:solidFill>
              <a:srgbClr val="0087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1554480"/>
            <a:ext cx="221833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2B55"/>
                </a:solidFill>
                <a:latin typeface="Calibri"/>
              </a:rPr>
              <a:t>Method</a:t>
            </a:r>
          </a:p>
        </p:txBody>
      </p:sp>
      <p:sp>
        <p:nvSpPr>
          <p:cNvPr id="8" name="Rectangle 7"/>
          <p:cNvSpPr/>
          <p:nvPr/>
        </p:nvSpPr>
        <p:spPr>
          <a:xfrm>
            <a:off x="2629814" y="1517904"/>
            <a:ext cx="2309774" cy="347472"/>
          </a:xfrm>
          <a:prstGeom prst="rect">
            <a:avLst/>
          </a:prstGeom>
          <a:solidFill>
            <a:srgbClr val="D6F0F0"/>
          </a:solidFill>
          <a:ln w="9525">
            <a:solidFill>
              <a:srgbClr val="0087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675534" y="1554480"/>
            <a:ext cx="221833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2B55"/>
                </a:solidFill>
                <a:latin typeface="Calibri"/>
              </a:rPr>
              <a:t>Eval Protocol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39588" y="1517904"/>
            <a:ext cx="2309774" cy="347472"/>
          </a:xfrm>
          <a:prstGeom prst="rect">
            <a:avLst/>
          </a:prstGeom>
          <a:solidFill>
            <a:srgbClr val="D6F0F0"/>
          </a:solidFill>
          <a:ln w="9525">
            <a:solidFill>
              <a:srgbClr val="0087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985308" y="1554480"/>
            <a:ext cx="221833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2B55"/>
                </a:solidFill>
                <a:latin typeface="Calibri"/>
              </a:rPr>
              <a:t>Subjects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49362" y="1517904"/>
            <a:ext cx="2309774" cy="347472"/>
          </a:xfrm>
          <a:prstGeom prst="rect">
            <a:avLst/>
          </a:prstGeom>
          <a:solidFill>
            <a:srgbClr val="D6F0F0"/>
          </a:solidFill>
          <a:ln w="9525">
            <a:solidFill>
              <a:srgbClr val="0087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295082" y="1554480"/>
            <a:ext cx="221833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2B55"/>
                </a:solidFill>
                <a:latin typeface="Calibri"/>
              </a:rPr>
              <a:t>Accuracy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559136" y="1517904"/>
            <a:ext cx="2309774" cy="347472"/>
          </a:xfrm>
          <a:prstGeom prst="rect">
            <a:avLst/>
          </a:prstGeom>
          <a:solidFill>
            <a:srgbClr val="D6F0F0"/>
          </a:solidFill>
          <a:ln w="9525">
            <a:solidFill>
              <a:srgbClr val="0087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604856" y="1554480"/>
            <a:ext cx="221833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2B55"/>
                </a:solidFill>
                <a:latin typeface="Calibri"/>
              </a:rPr>
              <a:t>Notes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1865376"/>
            <a:ext cx="2309774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65760" y="1901952"/>
            <a:ext cx="221833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1A"/>
                </a:solidFill>
                <a:latin typeface="Calibri"/>
              </a:rPr>
              <a:t>Biosignal SVM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629814" y="1865376"/>
            <a:ext cx="2309774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675534" y="1901952"/>
            <a:ext cx="221833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1A"/>
                </a:solidFill>
                <a:latin typeface="Calibri"/>
              </a:rPr>
              <a:t>Random split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939588" y="1865376"/>
            <a:ext cx="2309774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985308" y="1901952"/>
            <a:ext cx="221833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1A"/>
                </a:solidFill>
                <a:latin typeface="Calibri"/>
              </a:rPr>
              <a:t>50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49362" y="1865376"/>
            <a:ext cx="2309774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295082" y="1901952"/>
            <a:ext cx="221833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1A"/>
                </a:solidFill>
                <a:latin typeface="Calibri"/>
              </a:rPr>
              <a:t>48.8%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559136" y="1865376"/>
            <a:ext cx="2309774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604856" y="1901952"/>
            <a:ext cx="221833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1A"/>
                </a:solidFill>
                <a:latin typeface="Calibri"/>
              </a:rPr>
              <a:t>Flat baseline, no cross-subject test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2212848"/>
            <a:ext cx="2309774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65760" y="2249424"/>
            <a:ext cx="221833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1A"/>
                </a:solidFill>
                <a:latin typeface="Calibri"/>
              </a:rPr>
              <a:t>Hybrid CNN + features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629814" y="2212848"/>
            <a:ext cx="2309774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675534" y="2249424"/>
            <a:ext cx="221833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1A"/>
                </a:solidFill>
                <a:latin typeface="Calibri"/>
              </a:rPr>
              <a:t>LOSO-67 reactive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939588" y="2212848"/>
            <a:ext cx="2309774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985308" y="2249424"/>
            <a:ext cx="221833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1A"/>
                </a:solidFill>
                <a:latin typeface="Calibri"/>
              </a:rPr>
              <a:t>67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249362" y="2212848"/>
            <a:ext cx="2309774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295082" y="2249424"/>
            <a:ext cx="221833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1A"/>
                </a:solidFill>
                <a:latin typeface="Calibri"/>
              </a:rPr>
              <a:t>59.7%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559136" y="2212848"/>
            <a:ext cx="2309774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604856" y="2249424"/>
            <a:ext cx="221833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1A"/>
                </a:solidFill>
                <a:latin typeface="Calibri"/>
              </a:rPr>
              <a:t>Prior work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" y="2560320"/>
            <a:ext cx="2309774" cy="347472"/>
          </a:xfrm>
          <a:prstGeom prst="rect">
            <a:avLst/>
          </a:prstGeom>
          <a:solidFill>
            <a:srgbClr val="E86B1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65760" y="2596896"/>
            <a:ext cx="221833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1A"/>
                </a:solidFill>
                <a:latin typeface="Calibri"/>
              </a:rPr>
              <a:t>EmPath Stacked Fusion ★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629814" y="2560320"/>
            <a:ext cx="2309774" cy="347472"/>
          </a:xfrm>
          <a:prstGeom prst="rect">
            <a:avLst/>
          </a:prstGeom>
          <a:solidFill>
            <a:srgbClr val="E86B1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2675534" y="2596896"/>
            <a:ext cx="221833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1A"/>
                </a:solidFill>
                <a:latin typeface="Calibri"/>
              </a:rPr>
              <a:t>LOSO-67 reactive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939588" y="2560320"/>
            <a:ext cx="2309774" cy="347472"/>
          </a:xfrm>
          <a:prstGeom prst="rect">
            <a:avLst/>
          </a:prstGeom>
          <a:solidFill>
            <a:srgbClr val="E86B1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985308" y="2596896"/>
            <a:ext cx="221833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1A"/>
                </a:solidFill>
                <a:latin typeface="Calibri"/>
              </a:rPr>
              <a:t>67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249362" y="2560320"/>
            <a:ext cx="2309774" cy="347472"/>
          </a:xfrm>
          <a:prstGeom prst="rect">
            <a:avLst/>
          </a:prstGeom>
          <a:solidFill>
            <a:srgbClr val="E86B1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295082" y="2596896"/>
            <a:ext cx="221833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1A"/>
                </a:solidFill>
                <a:latin typeface="Calibri"/>
              </a:rPr>
              <a:t>65.3%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559136" y="2560320"/>
            <a:ext cx="2309774" cy="347472"/>
          </a:xfrm>
          <a:prstGeom prst="rect">
            <a:avLst/>
          </a:prstGeom>
          <a:solidFill>
            <a:srgbClr val="E86B1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604856" y="2596896"/>
            <a:ext cx="221833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1A"/>
                </a:solidFill>
                <a:latin typeface="Calibri"/>
              </a:rPr>
              <a:t>Our best — stricter evaluation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20040" y="2907792"/>
            <a:ext cx="2309774" cy="347472"/>
          </a:xfrm>
          <a:prstGeom prst="rect">
            <a:avLst/>
          </a:prstGeom>
          <a:solidFill>
            <a:srgbClr val="D6F0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365760" y="2944368"/>
            <a:ext cx="221833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1A"/>
                </a:solidFill>
                <a:latin typeface="Calibri"/>
              </a:rPr>
              <a:t>CrossMod-Transformer 2025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629814" y="2907792"/>
            <a:ext cx="2309774" cy="347472"/>
          </a:xfrm>
          <a:prstGeom prst="rect">
            <a:avLst/>
          </a:prstGeom>
          <a:solidFill>
            <a:srgbClr val="D6F0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2675534" y="2944368"/>
            <a:ext cx="221833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1A"/>
                </a:solidFill>
                <a:latin typeface="Calibri"/>
              </a:rPr>
              <a:t>LOSO-87 all subjects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939588" y="2907792"/>
            <a:ext cx="2309774" cy="347472"/>
          </a:xfrm>
          <a:prstGeom prst="rect">
            <a:avLst/>
          </a:prstGeom>
          <a:solidFill>
            <a:srgbClr val="D6F0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4985308" y="2944368"/>
            <a:ext cx="221833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1A"/>
                </a:solidFill>
                <a:latin typeface="Calibri"/>
              </a:rPr>
              <a:t>87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249362" y="2907792"/>
            <a:ext cx="2309774" cy="347472"/>
          </a:xfrm>
          <a:prstGeom prst="rect">
            <a:avLst/>
          </a:prstGeom>
          <a:solidFill>
            <a:srgbClr val="D6F0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7295082" y="2944368"/>
            <a:ext cx="221833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1A"/>
                </a:solidFill>
                <a:latin typeface="Calibri"/>
              </a:rPr>
              <a:t>87.5%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559136" y="2907792"/>
            <a:ext cx="2309774" cy="347472"/>
          </a:xfrm>
          <a:prstGeom prst="rect">
            <a:avLst/>
          </a:prstGeom>
          <a:solidFill>
            <a:srgbClr val="D6F0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9604856" y="2944368"/>
            <a:ext cx="221833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1A"/>
                </a:solidFill>
                <a:latin typeface="Calibri"/>
              </a:rPr>
              <a:t>Includes 20 non-reactive subjects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20040" y="3557016"/>
            <a:ext cx="11548872" cy="41148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502920" y="3602736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22% absolute gap to published SOTA — this is real and must be acknowledged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20040" y="4123944"/>
            <a:ext cx="73152" cy="292608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457200" y="4123944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878A"/>
                </a:solidFill>
                <a:latin typeface="Calibri"/>
              </a:rPr>
              <a:t>THE HONEST DEFENSE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57200" y="4471416"/>
            <a:ext cx="11365992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0"/>
              </a:spcAft>
            </a:pPr>
            <a:r>
              <a:rPr sz="1400">
                <a:solidFill>
                  <a:srgbClr val="1A1A1A"/>
                </a:solidFill>
                <a:latin typeface="Calibri"/>
              </a:rPr>
              <a:t>▸ CrossMod-Transformer evaluates on ALL 87 subjects including the 20 non-reactive ones whose biosignals are flat — making the task trivially easier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400">
                <a:solidFill>
                  <a:srgbClr val="1A1A1A"/>
                </a:solidFill>
                <a:latin typeface="Calibri"/>
              </a:rPr>
              <a:t>▸ We use REACTIVE-ONLY subjects — stricter and more clinically honest evaluation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400">
                <a:solidFill>
                  <a:srgbClr val="1A1A1A"/>
                </a:solidFill>
                <a:latin typeface="Calibri"/>
              </a:rPr>
              <a:t>▸ PA2 vs PA3 (~1°C) is documented as the hardest adjacent pair; papers reporting 87% benefit from non-reactive subject majority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400">
                <a:solidFill>
                  <a:srgbClr val="1A1A1A"/>
                </a:solidFill>
                <a:latin typeface="Calibri"/>
              </a:rPr>
              <a:t>▸ CrossMod-Transformer uses full transformer stacks — parameters &gt;&gt; appropriate for N=67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400">
                <a:solidFill>
                  <a:srgbClr val="1A1A1A"/>
                </a:solidFill>
                <a:latin typeface="Calibri"/>
              </a:rPr>
              <a:t>▸ Our LOSO tests true cross-subject generalization; some published evaluations use random splits that leak subject identity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400">
                <a:solidFill>
                  <a:srgbClr val="1A1A1A"/>
                </a:solidFill>
                <a:latin typeface="Calibri"/>
              </a:rPr>
              <a:t>▸ 65.3% on a rigorous LOSO-67 reactive-only benchmark is defensible and reproducible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274320" y="6611112"/>
            <a:ext cx="7315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BCC"/>
                </a:solidFill>
                <a:latin typeface="Calibri"/>
              </a:rPr>
              <a:t>EmPath v2  |  Komala Belur Srinivas  |  Hofstra University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1091672" y="6611112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17 / 20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5743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Clinical Significance &amp; Deployment Readiness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54864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20040" y="1472184"/>
            <a:ext cx="5486400" cy="49834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609344"/>
            <a:ext cx="73152" cy="292608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609344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878A"/>
                </a:solidFill>
                <a:latin typeface="Calibri"/>
              </a:rPr>
              <a:t>SHAP → HARDWARE REQUIREMENTS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947672"/>
            <a:ext cx="914400" cy="475488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2020824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Priority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44752" y="2020824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2B55"/>
                </a:solidFill>
                <a:latin typeface="Calibri"/>
              </a:rPr>
              <a:t>GSR sensor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360" y="203911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Wearable sweat sensor / ICU adhesive patch — #1 feature by SHAP margin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514600"/>
            <a:ext cx="914400" cy="475488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2587752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Priority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44752" y="258775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2B55"/>
                </a:solidFill>
                <a:latin typeface="Calibri"/>
              </a:rPr>
              <a:t>ECG / PPG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0360" y="2606040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Existing ICU cardiac monitor or optical pulse sensor — contributes ecg_max, ecg_shannon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081528"/>
            <a:ext cx="914400" cy="475488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2920" y="315468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Priority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44752" y="31546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2B55"/>
                </a:solidFill>
                <a:latin typeface="Calibri"/>
              </a:rPr>
              <a:t>Camera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80360" y="3172968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Bedside 25fps camera — captures mouth &amp; brow variability (top landmark features)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648456"/>
            <a:ext cx="914400" cy="475488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02920" y="3721608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Priority 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44752" y="372160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2B55"/>
                </a:solidFill>
                <a:latin typeface="Calibri"/>
              </a:rPr>
              <a:t>EMG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80360" y="3739896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Electrode placement on trapezius — useful but logistically harder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398264"/>
            <a:ext cx="73152" cy="292608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94360" y="4398264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878A"/>
                </a:solidFill>
                <a:latin typeface="Calibri"/>
              </a:rPr>
              <a:t>DEPLOYMENT PROPERTIES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718304"/>
            <a:ext cx="52120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✅  Non-invasive — no needles, no physical intervention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✅  Real-time capable — feature extraction &lt; 1 second per 5.5s window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✅  Explainable via SHAP — clinician sees exactly why each prediction was made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✅  Multimodal — graceful degradation if one modality unavailable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✅  Subject-independent — tested on unseen subjects via LOSO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35040" y="1472184"/>
            <a:ext cx="5806440" cy="49834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172200" y="1609344"/>
            <a:ext cx="73152" cy="292608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309360" y="1609344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878A"/>
                </a:solidFill>
                <a:latin typeface="Calibri"/>
              </a:rPr>
              <a:t>SYSTEM PIPELINE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72200" y="1947672"/>
            <a:ext cx="411480" cy="5943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199632" y="2039112"/>
            <a:ext cx="3474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29400" y="1947672"/>
            <a:ext cx="960120" cy="594360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656832" y="2039112"/>
            <a:ext cx="8961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Sense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62672" y="2057400"/>
            <a:ext cx="397763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GSR patch + ECG + camera acquire 5.5s window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72200" y="2651760"/>
            <a:ext cx="411480" cy="5943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199632" y="2743200"/>
            <a:ext cx="3474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629400" y="2651760"/>
            <a:ext cx="960120" cy="594360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656832" y="2743200"/>
            <a:ext cx="8961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Extract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62672" y="2761488"/>
            <a:ext cx="397763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35 biosignal features + 22 landmark features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72200" y="3355848"/>
            <a:ext cx="411480" cy="5943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199632" y="3447288"/>
            <a:ext cx="3474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629400" y="3355848"/>
            <a:ext cx="960120" cy="594360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656832" y="3447288"/>
            <a:ext cx="8961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Normalize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62672" y="3465576"/>
            <a:ext cx="397763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Person-specific normalization within window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72200" y="4059936"/>
            <a:ext cx="411480" cy="5943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199632" y="4151376"/>
            <a:ext cx="3474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629400" y="4059936"/>
            <a:ext cx="960120" cy="594360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656832" y="4151376"/>
            <a:ext cx="8961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Predict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662672" y="4169664"/>
            <a:ext cx="397763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RF_bio + RF_lm → LogReg meta-learner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172200" y="4764024"/>
            <a:ext cx="411480" cy="5943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199632" y="4855464"/>
            <a:ext cx="3474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629400" y="4764024"/>
            <a:ext cx="960120" cy="594360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656832" y="4855464"/>
            <a:ext cx="8961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Explain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662672" y="4873752"/>
            <a:ext cx="397763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SHAP values generated per prediction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172200" y="5468112"/>
            <a:ext cx="411480" cy="5943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199632" y="5559552"/>
            <a:ext cx="3474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629400" y="5468112"/>
            <a:ext cx="960120" cy="594360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6656832" y="5559552"/>
            <a:ext cx="8961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Alert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662672" y="5577840"/>
            <a:ext cx="397763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PA3 detected → clinical alert + feature breakdown</a:t>
            </a:r>
          </a:p>
        </p:txBody>
      </p:sp>
      <p:sp>
        <p:nvSpPr>
          <p:cNvPr id="61" name="Rectangle 60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274320" y="6611112"/>
            <a:ext cx="7315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BCC"/>
                </a:solidFill>
                <a:latin typeface="Calibri"/>
              </a:rPr>
              <a:t>EmPath v2  |  Komala Belur Srinivas  |  Hofstra University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1091672" y="6611112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18 / 20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5743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Technical Stack &amp; Implementation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54864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20040" y="1472184"/>
            <a:ext cx="3849624" cy="347472"/>
          </a:xfrm>
          <a:prstGeom prst="rect">
            <a:avLst/>
          </a:prstGeom>
          <a:solidFill>
            <a:srgbClr val="D6F0F0"/>
          </a:solidFill>
          <a:ln w="9525">
            <a:solidFill>
              <a:srgbClr val="0087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1508760"/>
            <a:ext cx="3758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2B55"/>
                </a:solidFill>
                <a:latin typeface="Calibri"/>
              </a:rPr>
              <a:t>Component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4169664" y="1472184"/>
            <a:ext cx="3849624" cy="347472"/>
          </a:xfrm>
          <a:prstGeom prst="rect">
            <a:avLst/>
          </a:prstGeom>
          <a:solidFill>
            <a:srgbClr val="D6F0F0"/>
          </a:solidFill>
          <a:ln w="9525">
            <a:solidFill>
              <a:srgbClr val="0087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215384" y="1508760"/>
            <a:ext cx="3758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2B55"/>
                </a:solidFill>
                <a:latin typeface="Calibri"/>
              </a:rPr>
              <a:t>Tool / Library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19288" y="1472184"/>
            <a:ext cx="3849624" cy="347472"/>
          </a:xfrm>
          <a:prstGeom prst="rect">
            <a:avLst/>
          </a:prstGeom>
          <a:solidFill>
            <a:srgbClr val="D6F0F0"/>
          </a:solidFill>
          <a:ln w="9525">
            <a:solidFill>
              <a:srgbClr val="0087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65008" y="1508760"/>
            <a:ext cx="3758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2B55"/>
                </a:solidFill>
                <a:latin typeface="Calibri"/>
              </a:rPr>
              <a:t>Purpose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1819656"/>
            <a:ext cx="3849624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" y="1856232"/>
            <a:ext cx="3758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Calibri"/>
              </a:rPr>
              <a:t>Biosignal features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69664" y="1819656"/>
            <a:ext cx="3849624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215384" y="1856232"/>
            <a:ext cx="3758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Calibri"/>
              </a:rPr>
              <a:t>neurokit2, numpy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19288" y="1819656"/>
            <a:ext cx="3849624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065008" y="1856232"/>
            <a:ext cx="3758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Calibri"/>
              </a:rPr>
              <a:t>HRV extraction, signal statistics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2167128"/>
            <a:ext cx="3849624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65760" y="2203704"/>
            <a:ext cx="3758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Calibri"/>
              </a:rPr>
              <a:t>Facial landmarks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69664" y="2167128"/>
            <a:ext cx="3849624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215384" y="2203704"/>
            <a:ext cx="3758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Calibri"/>
              </a:rPr>
              <a:t>MediaPipe FaceMesh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19288" y="2167128"/>
            <a:ext cx="3849624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065008" y="2203704"/>
            <a:ext cx="3758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Calibri"/>
              </a:rPr>
              <a:t>468-point facial landmark detection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2514600"/>
            <a:ext cx="3849624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65760" y="2551176"/>
            <a:ext cx="3758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Calibri"/>
              </a:rPr>
              <a:t>ML models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69664" y="2514600"/>
            <a:ext cx="3849624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215384" y="2551176"/>
            <a:ext cx="3758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Calibri"/>
              </a:rPr>
              <a:t>scikit-learn 1.7.2 (pinned)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19288" y="2514600"/>
            <a:ext cx="3849624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065008" y="2551176"/>
            <a:ext cx="3758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Calibri"/>
              </a:rPr>
              <a:t>RF, LogReg — baseline stacked fusion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2862072"/>
            <a:ext cx="3849624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65760" y="2898648"/>
            <a:ext cx="3758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Calibri"/>
              </a:rPr>
              <a:t>GNN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69664" y="2862072"/>
            <a:ext cx="3849624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215384" y="2898648"/>
            <a:ext cx="3758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Calibri"/>
              </a:rPr>
              <a:t>PyTorch Geometric (GAT)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019288" y="2862072"/>
            <a:ext cx="3849624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065008" y="2898648"/>
            <a:ext cx="3758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Calibri"/>
              </a:rPr>
              <a:t>Graph attention on landmark graph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" y="3209544"/>
            <a:ext cx="3849624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65760" y="3246120"/>
            <a:ext cx="3758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Calibri"/>
              </a:rPr>
              <a:t>DANN / CrossMod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169664" y="3209544"/>
            <a:ext cx="3849624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215384" y="3246120"/>
            <a:ext cx="3758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Calibri"/>
              </a:rPr>
              <a:t>PyTorch (autograd, MultiheadAttention)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019288" y="3209544"/>
            <a:ext cx="3849624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065008" y="3246120"/>
            <a:ext cx="3758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Calibri"/>
              </a:rPr>
              <a:t>Adversarial domain adaptation + cross-modal attention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0040" y="3557016"/>
            <a:ext cx="3849624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65760" y="3593592"/>
            <a:ext cx="3758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Calibri"/>
              </a:rPr>
              <a:t>Explainability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169664" y="3557016"/>
            <a:ext cx="3849624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215384" y="3593592"/>
            <a:ext cx="3758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Calibri"/>
              </a:rPr>
              <a:t>SHAP TreeExplainer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019288" y="3557016"/>
            <a:ext cx="3849624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065008" y="3593592"/>
            <a:ext cx="3758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Calibri"/>
              </a:rPr>
              <a:t>Out-of-fold feature attribution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20040" y="3904488"/>
            <a:ext cx="3849624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365760" y="3941064"/>
            <a:ext cx="3758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Calibri"/>
              </a:rPr>
              <a:t>Visualization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169664" y="3904488"/>
            <a:ext cx="3849624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4215384" y="3941064"/>
            <a:ext cx="3758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Calibri"/>
              </a:rPr>
              <a:t>matplotlib, seaborn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019288" y="3904488"/>
            <a:ext cx="3849624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8065008" y="3941064"/>
            <a:ext cx="3758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Calibri"/>
              </a:rPr>
              <a:t>SHAP plots, confusion matrix, per-subject charts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20040" y="4251960"/>
            <a:ext cx="3849624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365760" y="4288536"/>
            <a:ext cx="3758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Calibri"/>
              </a:rPr>
              <a:t>HPC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169664" y="4251960"/>
            <a:ext cx="3849624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4215384" y="4288536"/>
            <a:ext cx="3758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Calibri"/>
              </a:rPr>
              <a:t>Hofstra StarHPC — H100 80GB GPU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019288" y="4251960"/>
            <a:ext cx="3849624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8065008" y="4288536"/>
            <a:ext cx="3758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Calibri"/>
              </a:rPr>
              <a:t>SLURM jobs, GNN training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20040" y="4599432"/>
            <a:ext cx="3849624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365760" y="4636008"/>
            <a:ext cx="3758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Calibri"/>
              </a:rPr>
              <a:t>Demo app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169664" y="4599432"/>
            <a:ext cx="3849624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4215384" y="4636008"/>
            <a:ext cx="3758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Calibri"/>
              </a:rPr>
              <a:t>Streamlit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019288" y="4599432"/>
            <a:ext cx="3849624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8065008" y="4636008"/>
            <a:ext cx="3758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Calibri"/>
              </a:rPr>
              <a:t>Interactive pain prediction demo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20040" y="4946904"/>
            <a:ext cx="3849624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365760" y="4983480"/>
            <a:ext cx="3758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Calibri"/>
              </a:rPr>
              <a:t>Eval protocol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169664" y="4946904"/>
            <a:ext cx="3849624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4215384" y="4983480"/>
            <a:ext cx="3758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Calibri"/>
              </a:rPr>
              <a:t>LOSO (LeaveOneGroupOut)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019288" y="4946904"/>
            <a:ext cx="3849624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8065008" y="4983480"/>
            <a:ext cx="3758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Calibri"/>
              </a:rPr>
              <a:t>67 folds, true cross-subject generalization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20040" y="5449824"/>
            <a:ext cx="11548872" cy="347472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502920" y="5495544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KEY ENGINEERING DECISIONS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57200" y="5843016"/>
            <a:ext cx="11365992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▸ scikit-learn pinned to 1.7.2 — matches saved empath_model.pkl; upgrading without re-saving breaks production model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▸ GNN GPU struct cache: precomputed edge offsets on GPU — eliminated 33MB/batch transfer, reduced fold time from 5min → 90sec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▸ matplotlib.use('Agg') throughout — all plots run headless on SLURM compute nodes with no display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▸ Out-of-fold SHAP — every SHAP value from a test subject the model never trained on; zero leakage</a:t>
            </a:r>
          </a:p>
        </p:txBody>
      </p:sp>
      <p:sp>
        <p:nvSpPr>
          <p:cNvPr id="75" name="Rectangle 74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274320" y="6611112"/>
            <a:ext cx="7315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BCC"/>
                </a:solidFill>
                <a:latin typeface="Calibri"/>
              </a:rPr>
              <a:t>EmPath v2  |  Komala Belur Srinivas  |  Hofstra University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091672" y="6611112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19 / 20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1091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Conclusion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51560"/>
            <a:ext cx="3657600" cy="2331720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097280"/>
            <a:ext cx="3429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What Was Built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00200"/>
            <a:ext cx="34290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Multimodal pain classifier achieving 65.3% LOSO-67 accuracy on BioVid PA2 vs PA3 — the hardest adjacent pain level pair — evaluated with true subject-independent cross-validation.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1960" y="1051560"/>
            <a:ext cx="3657600" cy="2331720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389120" y="1097280"/>
            <a:ext cx="3429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What Was Discovered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1600200"/>
            <a:ext cx="34290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GSR slope is the #1 pain biomarker. Facial variability &gt; static geometry. RF is the empirical ceiling at N=67. DANN reduces variance but not mean accuracy. PA3 is a held expression, not a fast movement.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38160" y="1051560"/>
            <a:ext cx="3657600" cy="2331720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75320" y="1097280"/>
            <a:ext cx="3429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Novel Contributions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1600200"/>
            <a:ext cx="34290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GNN on MediaPipe FaceMesh (first in BioVid literature) • DANN adversarial domain adaptation • CrossMod bidirectional attention • Landmark velocity features • Out-of-fold SHAP XAI layer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566160"/>
            <a:ext cx="11457432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8640" y="3639312"/>
            <a:ext cx="11091672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0D2B55"/>
                </a:solidFill>
                <a:latin typeface="Calibri"/>
              </a:rPr>
              <a:t>"I built a subject-independent pain detection system using biosignals and facial landmarks, implemented and ablated GNNs, adversarial domain adaptation, and cross-modal attention — found that Random Forest remains the empirical ceiling at 67 subjects — and added SHAP explainability so clinicians can trust the predictions."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956048"/>
            <a:ext cx="1874519" cy="1627632"/>
          </a:xfrm>
          <a:prstGeom prst="rect">
            <a:avLst/>
          </a:prstGeom>
          <a:solidFill>
            <a:srgbClr val="0A2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11480" y="5120640"/>
            <a:ext cx="1801367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E86B1A"/>
                </a:solidFill>
                <a:latin typeface="Calibri"/>
              </a:rPr>
              <a:t>65.3%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5916168"/>
            <a:ext cx="1801367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ACCDD"/>
                </a:solidFill>
                <a:latin typeface="Calibri"/>
              </a:rPr>
              <a:t>LOSO-67
Accuracy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350007" y="4956048"/>
            <a:ext cx="1874519" cy="1627632"/>
          </a:xfrm>
          <a:prstGeom prst="rect">
            <a:avLst/>
          </a:prstGeom>
          <a:solidFill>
            <a:srgbClr val="0A2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395727" y="5120640"/>
            <a:ext cx="1801367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E86B1A"/>
                </a:solidFill>
                <a:latin typeface="Calibri"/>
              </a:rPr>
              <a:t>15+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95727" y="5916168"/>
            <a:ext cx="1801367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ACCDD"/>
                </a:solidFill>
                <a:latin typeface="Calibri"/>
              </a:rPr>
              <a:t>Architectures
Evaluated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34254" y="4956048"/>
            <a:ext cx="1874519" cy="1627632"/>
          </a:xfrm>
          <a:prstGeom prst="rect">
            <a:avLst/>
          </a:prstGeom>
          <a:solidFill>
            <a:srgbClr val="0A2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379974" y="5120640"/>
            <a:ext cx="1801367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E86B1A"/>
                </a:solidFill>
                <a:latin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79974" y="5916168"/>
            <a:ext cx="1801367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ACCDD"/>
                </a:solidFill>
                <a:latin typeface="Calibri"/>
              </a:rPr>
              <a:t>Novel
Contributions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18501" y="4956048"/>
            <a:ext cx="1874519" cy="1627632"/>
          </a:xfrm>
          <a:prstGeom prst="rect">
            <a:avLst/>
          </a:prstGeom>
          <a:solidFill>
            <a:srgbClr val="0A2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364221" y="5120640"/>
            <a:ext cx="1801367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E86B1A"/>
                </a:solidFill>
                <a:latin typeface="Calibri"/>
              </a:rPr>
              <a:t>67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64221" y="5916168"/>
            <a:ext cx="1801367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ACCDD"/>
                </a:solidFill>
                <a:latin typeface="Calibri"/>
              </a:rPr>
              <a:t>Subjects
Tested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302748" y="4956048"/>
            <a:ext cx="1874519" cy="1627632"/>
          </a:xfrm>
          <a:prstGeom prst="rect">
            <a:avLst/>
          </a:prstGeom>
          <a:solidFill>
            <a:srgbClr val="0A2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348468" y="5120640"/>
            <a:ext cx="1801367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E86B1A"/>
                </a:solidFill>
                <a:latin typeface="Calibri"/>
              </a:rPr>
              <a:t>2,680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48468" y="5916168"/>
            <a:ext cx="1801367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ACCDD"/>
                </a:solidFill>
                <a:latin typeface="Calibri"/>
              </a:rPr>
              <a:t>Total
Samples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286995" y="4956048"/>
            <a:ext cx="1874519" cy="1627632"/>
          </a:xfrm>
          <a:prstGeom prst="rect">
            <a:avLst/>
          </a:prstGeom>
          <a:solidFill>
            <a:srgbClr val="0A2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0332715" y="5120640"/>
            <a:ext cx="1801367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E86B1A"/>
                </a:solidFill>
                <a:latin typeface="Calibri"/>
              </a:rPr>
              <a:t>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332715" y="5916168"/>
            <a:ext cx="1801367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ACCDD"/>
                </a:solidFill>
                <a:latin typeface="Calibri"/>
              </a:rPr>
              <a:t>XAI
Plots Generated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74320" y="6611112"/>
            <a:ext cx="7315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BCC"/>
                </a:solidFill>
                <a:latin typeface="Calibri"/>
              </a:rPr>
              <a:t>EmPath v2  |  Komala Belur Srinivas  |  Hofstra University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091672" y="6611112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20 / 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3946</Words>
  <Application>Microsoft Macintosh PowerPoint</Application>
  <PresentationFormat>Custom</PresentationFormat>
  <Paragraphs>634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Komal Srinivas</cp:lastModifiedBy>
  <cp:revision>2</cp:revision>
  <dcterms:created xsi:type="dcterms:W3CDTF">2013-01-27T09:14:16Z</dcterms:created>
  <dcterms:modified xsi:type="dcterms:W3CDTF">2026-04-23T00:07:19Z</dcterms:modified>
  <cp:category/>
</cp:coreProperties>
</file>